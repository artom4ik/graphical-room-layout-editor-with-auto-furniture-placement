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8"/>
  </p:notesMasterIdLst>
  <p:handoutMasterIdLst>
    <p:handoutMasterId r:id="rId29"/>
  </p:handoutMasterIdLst>
  <p:sldIdLst>
    <p:sldId id="566" r:id="rId2"/>
    <p:sldId id="544" r:id="rId3"/>
    <p:sldId id="579" r:id="rId4"/>
    <p:sldId id="578" r:id="rId5"/>
    <p:sldId id="587" r:id="rId6"/>
    <p:sldId id="575" r:id="rId7"/>
    <p:sldId id="591" r:id="rId8"/>
    <p:sldId id="576" r:id="rId9"/>
    <p:sldId id="580" r:id="rId10"/>
    <p:sldId id="568" r:id="rId11"/>
    <p:sldId id="584" r:id="rId12"/>
    <p:sldId id="582" r:id="rId13"/>
    <p:sldId id="585" r:id="rId14"/>
    <p:sldId id="574" r:id="rId15"/>
    <p:sldId id="559" r:id="rId16"/>
    <p:sldId id="577" r:id="rId17"/>
    <p:sldId id="573" r:id="rId18"/>
    <p:sldId id="569" r:id="rId19"/>
    <p:sldId id="589" r:id="rId20"/>
    <p:sldId id="590" r:id="rId21"/>
    <p:sldId id="592" r:id="rId22"/>
    <p:sldId id="586" r:id="rId23"/>
    <p:sldId id="588" r:id="rId24"/>
    <p:sldId id="450" r:id="rId25"/>
    <p:sldId id="583" r:id="rId26"/>
    <p:sldId id="567" r:id="rId27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1" initials="E" lastIdx="1" clrIdx="0">
    <p:extLst>
      <p:ext uri="{19B8F6BF-5375-455C-9EA6-DF929625EA0E}">
        <p15:presenceInfo xmlns:p15="http://schemas.microsoft.com/office/powerpoint/2012/main" userId="EG1" providerId="None"/>
      </p:ext>
    </p:extLst>
  </p:cmAuthor>
  <p:cmAuthor id="2" name="Софрыгин Лука, LS4" initials="СЛL" lastIdx="1" clrIdx="1">
    <p:extLst>
      <p:ext uri="{19B8F6BF-5375-455C-9EA6-DF929625EA0E}">
        <p15:presenceInfo xmlns:p15="http://schemas.microsoft.com/office/powerpoint/2012/main" userId="S-1-5-21-625263247-1454195203-2169808520-126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9" autoAdjust="0"/>
    <p:restoredTop sz="95041" autoAdjust="0"/>
  </p:normalViewPr>
  <p:slideViewPr>
    <p:cSldViewPr snapToGrid="0">
      <p:cViewPr varScale="1">
        <p:scale>
          <a:sx n="100" d="100"/>
          <a:sy n="100" d="100"/>
        </p:scale>
        <p:origin x="648" y="7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864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755E80-A933-4CC8-9DAF-FDB5B976556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B2E806-A349-4D7C-B389-CD7B1193A8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621535-85C8-4ADF-AD2F-DE2E3697E186}" type="datetimeFigureOut">
              <a:rPr lang="ru-RU" smtClean="0"/>
              <a:t>30.07.2026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D8C49D7-86CD-4687-97CA-7E1BC06013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4D6BCE-E40D-41E8-BFFB-B9AEA5A1D7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273A6-B725-4933-B4B6-707AF53255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249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2EAE9-AAF6-4AB1-9F59-9F984DBCDFBC}" type="datetimeFigureOut">
              <a:rPr lang="ru-RU" smtClean="0"/>
              <a:pPr/>
              <a:t>30.07.2026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C65B3-3737-4DC1-B218-587C71CB93A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64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#1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61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409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110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607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8744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021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477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328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985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918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596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017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0219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443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1987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990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29695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6566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6566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C65B3-3737-4DC1-B218-587C71CB93A2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27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8434DA-C882-4236-B529-83D1422DE2D4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8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612" y="55322"/>
            <a:ext cx="7606737" cy="639159"/>
          </a:xfrm>
        </p:spPr>
        <p:txBody>
          <a:bodyPr>
            <a:noAutofit/>
          </a:bodyPr>
          <a:lstStyle>
            <a:lvl1pPr>
              <a:defRPr sz="3200" b="1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9BE97AC-181C-4449-90AE-0FBDA16C839C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1462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89B412-E239-4344-928E-2867D770A188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79696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4C8D87-A996-4440-991B-7DD9C037A877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6773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875C28-016B-4185-BB52-3DDD41B823C7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59211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4FE08A-AC47-4206-9EEC-E68F186D0714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35341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F34F2E-64D2-421A-96CC-2929F053A95C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35130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5F8C40-96CF-4BF1-99C9-D116826B1F37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76364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846153-EFBC-4F2F-893B-F26FC7A1632B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8821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DA4F9-7829-4D35-8D88-FDEF56B76E9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9732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5AAD59-6DE1-4F50-B920-BAFEFE9DB815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2315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9525" y="0"/>
            <a:ext cx="916305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73888" y="59726"/>
            <a:ext cx="7641461" cy="5768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763929"/>
            <a:ext cx="7886700" cy="38687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368A356-A2FE-4310-85D3-F33D26BF58CF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8" name="TextBox 7"/>
          <p:cNvSpPr txBox="1"/>
          <p:nvPr userDrawn="1"/>
        </p:nvSpPr>
        <p:spPr>
          <a:xfrm>
            <a:off x="8428296" y="-2270"/>
            <a:ext cx="98425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800" baseline="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</a:rPr>
              <a:t>TAM</a:t>
            </a:r>
            <a:endParaRPr lang="ru-RU" sz="1800" baseline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3"/>
          <p:cNvSpPr txBox="1">
            <a:spLocks noChangeArrowheads="1"/>
          </p:cNvSpPr>
          <p:nvPr userDrawn="1"/>
        </p:nvSpPr>
        <p:spPr bwMode="auto">
          <a:xfrm>
            <a:off x="8604250" y="297657"/>
            <a:ext cx="389850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F45E259-68FD-48E5-A55B-7A3C131E7B39}" type="slidenum">
              <a:rPr lang="ru-RU" sz="1300" smtClean="0">
                <a:solidFill>
                  <a:schemeClr val="bg2">
                    <a:lumMod val="75000"/>
                  </a:schemeClr>
                </a:solidFill>
              </a:rPr>
              <a:pPr eaLnBrk="1" hangingPunct="1">
                <a:defRPr/>
              </a:pPr>
              <a:t>‹#›</a:t>
            </a:fld>
            <a:endParaRPr lang="ru-RU" sz="13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2" name="Rectangle 9"/>
          <p:cNvSpPr txBox="1">
            <a:spLocks noChangeArrowheads="1"/>
          </p:cNvSpPr>
          <p:nvPr userDrawn="1"/>
        </p:nvSpPr>
        <p:spPr>
          <a:xfrm>
            <a:off x="2864645" y="4760044"/>
            <a:ext cx="3414710" cy="465534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Computer Graphics Support Group</a:t>
            </a:r>
            <a:endParaRPr lang="ru-RU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5" name="Рисунок 14" descr="CGSG-Logo_Stroke_4p_Cyant_300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0" y="0"/>
            <a:ext cx="989724" cy="71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200" b="1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jpeg"/><Relationship Id="rId2" Type="http://schemas.openxmlformats.org/officeDocument/2006/relationships/video" Target="file:///\\zeus\ShareFolder\DevShares\ShareCGSG\2025-26\TAM\leti\PRESENTATION\videos\CGSG__TAM%20Project%202026-04-23%2021-20-16.mp4" TargetMode="External"/><Relationship Id="rId1" Type="http://schemas.microsoft.com/office/2007/relationships/media" Target="file:///\\zeus\ShareFolder\DevShares\ShareCGSG\2025-26\TAM\leti\PRESENTATION\videos\CGSG__TAM%20Project%202026-04-23%2021-20-16.mp4" TargetMode="Externa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\\zeus\ShareFolder\DevShares\ShareCGSG\2025-26\TAM\leti\PRESENTATION\videos\spider_animation.mp4" TargetMode="External"/><Relationship Id="rId1" Type="http://schemas.microsoft.com/office/2007/relationships/media" Target="file:///\\zeus\ShareFolder\DevShares\ShareCGSG\2025-26\TAM\leti\PRESENTATION\videos\spider_animation.mp4" TargetMode="External"/><Relationship Id="rId5" Type="http://schemas.openxmlformats.org/officeDocument/2006/relationships/image" Target="../media/image35.png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microsoft.com/office/2007/relationships/media" Target="file:///\\zeus\ShareFolder\DevShares\ShareCGSG\2025-26\TAM\leti\PRESENTATION\videos\TO_GIF\Layout_Video.mp4" TargetMode="External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video" Target="file:///\\zeus\ShareFolder\DevShares\ShareCGSG\2025-26\TAM\leti\PRESENTATION\videos\TO_GIF\demo_WALLS_SpeedUp.mp4" TargetMode="External"/><Relationship Id="rId1" Type="http://schemas.microsoft.com/office/2007/relationships/media" Target="file:///\\zeus\ShareFolder\DevShares\ShareCGSG\2025-26\TAM\leti\PRESENTATION\videos\TO_GIF\demo_WALLS_SpeedUp.mp4" TargetMode="External"/><Relationship Id="rId6" Type="http://schemas.openxmlformats.org/officeDocument/2006/relationships/notesSlide" Target="../notesSlides/notesSlide12.xml"/><Relationship Id="rId11" Type="http://schemas.openxmlformats.org/officeDocument/2006/relationships/image" Target="../media/image41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0.png"/><Relationship Id="rId4" Type="http://schemas.openxmlformats.org/officeDocument/2006/relationships/video" Target="file:///\\zeus\ShareFolder\DevShares\ShareCGSG\2025-26\TAM\leti\PRESENTATION\videos\TO_GIF\Layout_Video.mp4" TargetMode="External"/><Relationship Id="rId9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gif"/><Relationship Id="rId9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\\zeus\ShareFolder\DevShares\ShareCGSG\2025-26\TAM\leti\PRESENTATION\videos\TO_GIF\Long_Flat_Createion_Video_SpeedUpUp_Cut_Trim.mp4" TargetMode="External"/><Relationship Id="rId1" Type="http://schemas.microsoft.com/office/2007/relationships/media" Target="file:///\\zeus\ShareFolder\DevShares\ShareCGSG\2025-26\TAM\leti\PRESENTATION\videos\TO_GIF\Long_Flat_Createion_Video_SpeedUpUp_Cut_Trim.mp4" TargetMode="Externa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571501"/>
            <a:ext cx="9144000" cy="1268552"/>
          </a:xfrm>
        </p:spPr>
        <p:txBody>
          <a:bodyPr>
            <a:noAutofit/>
          </a:bodyPr>
          <a:lstStyle/>
          <a:p>
            <a:r>
              <a:rPr lang="en-US" sz="2800" dirty="0"/>
              <a:t>Hybrid System for Room Layout Creation and Automatic Furniture Placement Based on Geometric Constraints, Heuristic Optimization, and Machine Learning</a:t>
            </a:r>
            <a:r>
              <a:rPr lang="ru-RU" sz="2800" dirty="0"/>
              <a:t>.</a:t>
            </a:r>
            <a:endParaRPr lang="ru-RU" sz="2800" dirty="0">
              <a:effectLst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l="25000" t="28942" r="15469" b="5288"/>
          <a:stretch>
            <a:fillRect/>
          </a:stretch>
        </p:blipFill>
        <p:spPr bwMode="auto">
          <a:xfrm>
            <a:off x="326756" y="2279323"/>
            <a:ext cx="3215935" cy="192449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 l="26956" t="34532" r="5665" b="3597"/>
          <a:stretch>
            <a:fillRect/>
          </a:stretch>
        </p:blipFill>
        <p:spPr bwMode="auto">
          <a:xfrm>
            <a:off x="5670061" y="2279323"/>
            <a:ext cx="3215935" cy="192449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795542" y="1896661"/>
            <a:ext cx="3552915" cy="192449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629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Project structure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211637" y="1948515"/>
            <a:ext cx="1606267" cy="149208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55365" y="2141690"/>
            <a:ext cx="1057640" cy="4420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Vulkan</a:t>
            </a:r>
            <a:r>
              <a:rPr lang="en-US" sz="1400" dirty="0"/>
              <a:t> API</a:t>
            </a:r>
            <a:endParaRPr lang="ru-RU" sz="14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455365" y="2721560"/>
            <a:ext cx="1057639" cy="4420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Utilities</a:t>
            </a:r>
            <a:endParaRPr lang="ru-RU" sz="14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2101705" y="2130320"/>
            <a:ext cx="1621250" cy="118247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273489" y="2219477"/>
            <a:ext cx="1277682" cy="4420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Resources</a:t>
            </a:r>
            <a:endParaRPr lang="ru-RU" sz="1400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006756" y="1915631"/>
            <a:ext cx="2450558" cy="16118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273489" y="2722318"/>
            <a:ext cx="1277682" cy="4420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Graphical output</a:t>
            </a:r>
            <a:endParaRPr lang="ru-RU" sz="1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289332" y="2035405"/>
            <a:ext cx="1860855" cy="4028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Animation</a:t>
            </a:r>
            <a:endParaRPr lang="ru-RU" sz="1400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4289329" y="2515905"/>
            <a:ext cx="1860855" cy="4028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Input system</a:t>
            </a:r>
            <a:endParaRPr lang="ru-RU" sz="1400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4289331" y="3006978"/>
            <a:ext cx="1860010" cy="45250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Unit system</a:t>
            </a:r>
            <a:endParaRPr lang="ru-RU" sz="1400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6739887" y="1864703"/>
            <a:ext cx="2165594" cy="171371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6967234" y="1988858"/>
            <a:ext cx="1677704" cy="4420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 interface</a:t>
            </a:r>
            <a:endParaRPr lang="ru-RU" sz="1400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6967233" y="2488910"/>
            <a:ext cx="1677704" cy="4420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Room editor</a:t>
            </a:r>
            <a:endParaRPr lang="ru-RU" sz="1400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6967232" y="2988963"/>
            <a:ext cx="1677704" cy="4420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Furniture arrangement</a:t>
            </a:r>
            <a:endParaRPr lang="ru-RU" sz="1400" dirty="0"/>
          </a:p>
        </p:txBody>
      </p:sp>
      <p:sp>
        <p:nvSpPr>
          <p:cNvPr id="37" name="Стрелка вправо 36"/>
          <p:cNvSpPr/>
          <p:nvPr/>
        </p:nvSpPr>
        <p:spPr>
          <a:xfrm>
            <a:off x="1815443" y="2508948"/>
            <a:ext cx="345179" cy="371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Стрелка вправо 37"/>
          <p:cNvSpPr/>
          <p:nvPr/>
        </p:nvSpPr>
        <p:spPr>
          <a:xfrm>
            <a:off x="3722149" y="2508949"/>
            <a:ext cx="345179" cy="371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 вправо 38"/>
          <p:cNvSpPr/>
          <p:nvPr/>
        </p:nvSpPr>
        <p:spPr>
          <a:xfrm>
            <a:off x="6457314" y="2508948"/>
            <a:ext cx="345179" cy="371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526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Vulkan</a:t>
            </a:r>
            <a:r>
              <a:rPr lang="en-US" dirty="0"/>
              <a:t> API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72466" y="843646"/>
            <a:ext cx="3760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General scheme of working with the Vulkan API</a:t>
            </a:r>
            <a:endParaRPr lang="ru-RU" sz="1400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75778" y="1272100"/>
            <a:ext cx="4553422" cy="3084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05890" y="1381544"/>
            <a:ext cx="1154230" cy="25892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Application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800462" y="1849900"/>
            <a:ext cx="1154230" cy="25892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Instance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800462" y="2320314"/>
            <a:ext cx="1154230" cy="25892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Physical device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00462" y="2790728"/>
            <a:ext cx="1154230" cy="25892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Logical device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757463" y="3281105"/>
            <a:ext cx="1288566" cy="25892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Graphics Queue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2540616" y="3654948"/>
            <a:ext cx="929344" cy="472138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Command buffers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563446" y="3380671"/>
            <a:ext cx="906513" cy="245666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Surface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958915" y="3503991"/>
            <a:ext cx="927683" cy="485423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n w="0">
                  <a:noFill/>
                </a:ln>
                <a:solidFill>
                  <a:schemeClr val="bg1"/>
                </a:solidFill>
              </a:rPr>
              <a:t>Swapchain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3" name="Стрелка вправо 22"/>
          <p:cNvSpPr/>
          <p:nvPr/>
        </p:nvSpPr>
        <p:spPr>
          <a:xfrm rot="5400000">
            <a:off x="1273119" y="1636190"/>
            <a:ext cx="208915" cy="2185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право 23"/>
          <p:cNvSpPr/>
          <p:nvPr/>
        </p:nvSpPr>
        <p:spPr>
          <a:xfrm>
            <a:off x="2122972" y="3578186"/>
            <a:ext cx="363532" cy="280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Стрелка вправо 24"/>
          <p:cNvSpPr/>
          <p:nvPr/>
        </p:nvSpPr>
        <p:spPr>
          <a:xfrm>
            <a:off x="3489829" y="3578186"/>
            <a:ext cx="474718" cy="371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вправо 27"/>
          <p:cNvSpPr/>
          <p:nvPr/>
        </p:nvSpPr>
        <p:spPr>
          <a:xfrm rot="5400000">
            <a:off x="1273119" y="2113632"/>
            <a:ext cx="208915" cy="2185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Стрелка вправо 28"/>
          <p:cNvSpPr/>
          <p:nvPr/>
        </p:nvSpPr>
        <p:spPr>
          <a:xfrm rot="5400000">
            <a:off x="1273118" y="2563902"/>
            <a:ext cx="208915" cy="2185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Стрелка вправо 29"/>
          <p:cNvSpPr/>
          <p:nvPr/>
        </p:nvSpPr>
        <p:spPr>
          <a:xfrm rot="5400000">
            <a:off x="1273117" y="3053727"/>
            <a:ext cx="208915" cy="2185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Скругленный прямоугольник 49"/>
          <p:cNvSpPr/>
          <p:nvPr/>
        </p:nvSpPr>
        <p:spPr>
          <a:xfrm>
            <a:off x="757463" y="3599977"/>
            <a:ext cx="1288566" cy="25892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Transfer Queue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51" name="Скругленный прямоугольник 50"/>
          <p:cNvSpPr/>
          <p:nvPr/>
        </p:nvSpPr>
        <p:spPr>
          <a:xfrm>
            <a:off x="757463" y="3910980"/>
            <a:ext cx="1288566" cy="25892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Compute Queue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149928" y="1362006"/>
            <a:ext cx="1431324" cy="3039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/>
          <p:cNvSpPr txBox="1"/>
          <p:nvPr/>
        </p:nvSpPr>
        <p:spPr>
          <a:xfrm>
            <a:off x="2343612" y="1357119"/>
            <a:ext cx="1126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Initialization</a:t>
            </a:r>
            <a:endParaRPr lang="ru-RU" sz="1400" dirty="0"/>
          </a:p>
        </p:txBody>
      </p:sp>
      <p:sp>
        <p:nvSpPr>
          <p:cNvPr id="58" name="Стрелка углом 57"/>
          <p:cNvSpPr/>
          <p:nvPr/>
        </p:nvSpPr>
        <p:spPr>
          <a:xfrm>
            <a:off x="2118697" y="1872437"/>
            <a:ext cx="477122" cy="178143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60" name="Скругленный прямоугольник 59"/>
          <p:cNvSpPr/>
          <p:nvPr/>
        </p:nvSpPr>
        <p:spPr>
          <a:xfrm>
            <a:off x="2589823" y="1778952"/>
            <a:ext cx="1080477" cy="486281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Resource initialization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578" y="1381544"/>
            <a:ext cx="3822919" cy="269596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TextBox 26"/>
          <p:cNvSpPr txBox="1"/>
          <p:nvPr/>
        </p:nvSpPr>
        <p:spPr>
          <a:xfrm>
            <a:off x="5868954" y="846851"/>
            <a:ext cx="291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Example of </a:t>
            </a:r>
            <a:r>
              <a:rPr lang="en-US" sz="1400" dirty="0" err="1"/>
              <a:t>Swapchain</a:t>
            </a:r>
            <a:r>
              <a:rPr lang="en-US" sz="1400" dirty="0"/>
              <a:t> output image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264403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Vulkan resources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48818" y="1010179"/>
            <a:ext cx="4488942" cy="32133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959893" y="3712001"/>
            <a:ext cx="959316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Pipeline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328672" y="1821989"/>
            <a:ext cx="1014913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Image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925420" y="1457998"/>
            <a:ext cx="1014913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Buffers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3322322" y="1232752"/>
            <a:ext cx="1014913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Sampler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279148" y="2472865"/>
            <a:ext cx="1113960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Descriptor set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69942" y="2788920"/>
            <a:ext cx="1098838" cy="465049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ln w="0">
                  <a:noFill/>
                </a:ln>
                <a:solidFill>
                  <a:schemeClr val="bg1"/>
                </a:solidFill>
              </a:rPr>
              <a:t>Shader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320285" y="3714062"/>
            <a:ext cx="1014913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Render pass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3328672" y="3123741"/>
            <a:ext cx="1014913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Frame buffer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1882571" y="2455974"/>
            <a:ext cx="1113960" cy="383520"/>
          </a:xfrm>
          <a:prstGeom prst="roundRect">
            <a:avLst>
              <a:gd name="adj" fmla="val 28065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n w="0">
                  <a:noFill/>
                </a:ln>
                <a:solidFill>
                  <a:schemeClr val="bg1"/>
                </a:solidFill>
              </a:rPr>
              <a:t>Descriptor set</a:t>
            </a:r>
            <a:endParaRPr lang="ru-RU" sz="1200" dirty="0">
              <a:ln w="0">
                <a:noFill/>
              </a:ln>
              <a:solidFill>
                <a:schemeClr val="bg1"/>
              </a:solidFill>
            </a:endParaRPr>
          </a:p>
        </p:txBody>
      </p:sp>
      <p:cxnSp>
        <p:nvCxnSpPr>
          <p:cNvPr id="25" name="Соединительная линия уступом 24"/>
          <p:cNvCxnSpPr>
            <a:endCxn id="4" idx="0"/>
          </p:cNvCxnSpPr>
          <p:nvPr/>
        </p:nvCxnSpPr>
        <p:spPr>
          <a:xfrm rot="16200000" flipH="1">
            <a:off x="1999874" y="3272324"/>
            <a:ext cx="866008" cy="13346"/>
          </a:xfrm>
          <a:prstGeom prst="bentConnector3">
            <a:avLst>
              <a:gd name="adj1" fmla="val -594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Соединительная линия уступом 33"/>
          <p:cNvCxnSpPr>
            <a:stCxn id="10" idx="2"/>
          </p:cNvCxnSpPr>
          <p:nvPr/>
        </p:nvCxnSpPr>
        <p:spPr>
          <a:xfrm rot="5400000">
            <a:off x="3094163" y="2195100"/>
            <a:ext cx="80681" cy="140325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ная линия уступом 37"/>
          <p:cNvCxnSpPr>
            <a:stCxn id="12" idx="2"/>
            <a:endCxn id="4" idx="1"/>
          </p:cNvCxnSpPr>
          <p:nvPr/>
        </p:nvCxnSpPr>
        <p:spPr>
          <a:xfrm rot="16200000" flipH="1">
            <a:off x="1214731" y="3158599"/>
            <a:ext cx="649792" cy="840532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ная линия уступом 39"/>
          <p:cNvCxnSpPr>
            <a:stCxn id="4" idx="3"/>
            <a:endCxn id="13" idx="1"/>
          </p:cNvCxnSpPr>
          <p:nvPr/>
        </p:nvCxnSpPr>
        <p:spPr>
          <a:xfrm>
            <a:off x="2919209" y="3903761"/>
            <a:ext cx="401076" cy="2061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ная линия уступом 41"/>
          <p:cNvCxnSpPr>
            <a:stCxn id="6" idx="2"/>
            <a:endCxn id="20" idx="0"/>
          </p:cNvCxnSpPr>
          <p:nvPr/>
        </p:nvCxnSpPr>
        <p:spPr>
          <a:xfrm rot="16200000" flipH="1">
            <a:off x="2128986" y="2145409"/>
            <a:ext cx="614456" cy="6674"/>
          </a:xfrm>
          <a:prstGeom prst="bentConnector3">
            <a:avLst>
              <a:gd name="adj1" fmla="val 87204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43"/>
          <p:cNvCxnSpPr>
            <a:stCxn id="8" idx="2"/>
            <a:endCxn id="5" idx="0"/>
          </p:cNvCxnSpPr>
          <p:nvPr/>
        </p:nvCxnSpPr>
        <p:spPr>
          <a:xfrm rot="16200000" flipH="1">
            <a:off x="3730096" y="1715955"/>
            <a:ext cx="205717" cy="6350"/>
          </a:xfrm>
          <a:prstGeom prst="bentConnector3">
            <a:avLst>
              <a:gd name="adj1" fmla="val 6234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ная линия уступом 45"/>
          <p:cNvCxnSpPr>
            <a:stCxn id="5" idx="2"/>
            <a:endCxn id="10" idx="0"/>
          </p:cNvCxnSpPr>
          <p:nvPr/>
        </p:nvCxnSpPr>
        <p:spPr>
          <a:xfrm rot="5400000">
            <a:off x="3702451" y="2339187"/>
            <a:ext cx="267356" cy="1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Соединительная линия уступом 47"/>
          <p:cNvCxnSpPr>
            <a:stCxn id="10" idx="2"/>
            <a:endCxn id="16" idx="0"/>
          </p:cNvCxnSpPr>
          <p:nvPr/>
        </p:nvCxnSpPr>
        <p:spPr>
          <a:xfrm rot="16200000" flipH="1">
            <a:off x="3702450" y="2990062"/>
            <a:ext cx="267356" cy="1"/>
          </a:xfrm>
          <a:prstGeom prst="bentConnector3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>
            <a:stCxn id="16" idx="2"/>
            <a:endCxn id="13" idx="0"/>
          </p:cNvCxnSpPr>
          <p:nvPr/>
        </p:nvCxnSpPr>
        <p:spPr>
          <a:xfrm rot="5400000">
            <a:off x="3728536" y="3606468"/>
            <a:ext cx="206801" cy="8387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700" y="1071138"/>
            <a:ext cx="2613660" cy="3655521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5" name="TextBox 34"/>
          <p:cNvSpPr txBox="1"/>
          <p:nvPr/>
        </p:nvSpPr>
        <p:spPr>
          <a:xfrm>
            <a:off x="5951220" y="739059"/>
            <a:ext cx="2903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 example of a real Vulkan buffer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98252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/>
          <p:cNvSpPr/>
          <p:nvPr/>
        </p:nvSpPr>
        <p:spPr>
          <a:xfrm>
            <a:off x="3634740" y="772460"/>
            <a:ext cx="1303020" cy="5867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Resources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379020" y="1832495"/>
            <a:ext cx="1303020" cy="56462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Fonts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572000" y="1820938"/>
            <a:ext cx="1303020" cy="59865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Material patterns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295873" y="2731480"/>
            <a:ext cx="1303020" cy="58522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Materials</a:t>
            </a:r>
            <a:endParaRPr lang="ru-RU" sz="1200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3873434" y="2723912"/>
            <a:ext cx="1291626" cy="5867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Shaders</a:t>
            </a:r>
            <a:endParaRPr lang="ru-RU" sz="120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070109" y="3599688"/>
            <a:ext cx="1325808" cy="5867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Primitives</a:t>
            </a:r>
            <a:endParaRPr lang="ru-RU" sz="120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572000" y="3599688"/>
            <a:ext cx="1303020" cy="5867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Textures</a:t>
            </a:r>
            <a:endParaRPr lang="ru-RU" sz="12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7390414" y="1065830"/>
            <a:ext cx="1291626" cy="58215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Models</a:t>
            </a:r>
            <a:endParaRPr lang="ru-RU" sz="1200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2331720" y="1820938"/>
            <a:ext cx="1303020" cy="58674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Buffers</a:t>
            </a:r>
            <a:endParaRPr lang="ru-RU" sz="1200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77190" y="1831993"/>
            <a:ext cx="1303020" cy="56462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Lights</a:t>
            </a:r>
            <a:endParaRPr lang="ru-RU" sz="1200" dirty="0"/>
          </a:p>
        </p:txBody>
      </p:sp>
      <p:cxnSp>
        <p:nvCxnSpPr>
          <p:cNvPr id="32" name="Прямая со стрелкой 31"/>
          <p:cNvCxnSpPr>
            <a:cxnSpLocks/>
            <a:stCxn id="3" idx="1"/>
            <a:endCxn id="14" idx="0"/>
          </p:cNvCxnSpPr>
          <p:nvPr/>
        </p:nvCxnSpPr>
        <p:spPr>
          <a:xfrm flipH="1">
            <a:off x="1028700" y="1065830"/>
            <a:ext cx="2606040" cy="766163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29" name="Скругленный прямоугольник 28"/>
          <p:cNvSpPr/>
          <p:nvPr/>
        </p:nvSpPr>
        <p:spPr>
          <a:xfrm>
            <a:off x="7390414" y="2545053"/>
            <a:ext cx="1291626" cy="586739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Markers</a:t>
            </a:r>
            <a:endParaRPr lang="ru-RU" sz="1200" dirty="0"/>
          </a:p>
        </p:txBody>
      </p:sp>
      <p:sp>
        <p:nvSpPr>
          <p:cNvPr id="33" name="Заголовок 1"/>
          <p:cNvSpPr>
            <a:spLocks noGrp="1"/>
          </p:cNvSpPr>
          <p:nvPr/>
        </p:nvSpPr>
        <p:spPr>
          <a:xfrm>
            <a:off x="482881" y="16024"/>
            <a:ext cx="7606737" cy="639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Resources</a:t>
            </a:r>
            <a:endParaRPr lang="ru-RU" dirty="0"/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DE81FF12-4AB6-4E1A-B78C-BEAB7DC7268C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2983230" y="1359200"/>
            <a:ext cx="1303020" cy="461738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id="{F0817357-F188-4FA2-B41E-773546E842B4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4286250" y="1359200"/>
            <a:ext cx="937260" cy="461738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EDF0CDD7-18E7-4761-B64B-2CB92F2A774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5947383" y="3316701"/>
            <a:ext cx="785630" cy="28298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C83DC2FE-09D5-42A8-9D15-9E2F0865F739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flipH="1">
            <a:off x="5223510" y="3316701"/>
            <a:ext cx="723873" cy="28298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72C2D7B9-4300-4003-A1D7-F4DC851DC77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4519247" y="2419589"/>
            <a:ext cx="704263" cy="304323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1C62E98A-DECD-496C-BF6A-2BF504769DA3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223510" y="2419589"/>
            <a:ext cx="723873" cy="311891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74" name="Левая фигурная скобка 73">
            <a:extLst>
              <a:ext uri="{FF2B5EF4-FFF2-40B4-BE49-F238E27FC236}">
                <a16:creationId xmlns:a16="http://schemas.microsoft.com/office/drawing/2014/main" id="{E85AA963-42BA-426B-8E9D-B78F365E612C}"/>
              </a:ext>
            </a:extLst>
          </p:cNvPr>
          <p:cNvSpPr/>
          <p:nvPr/>
        </p:nvSpPr>
        <p:spPr>
          <a:xfrm>
            <a:off x="6892290" y="935493"/>
            <a:ext cx="488918" cy="23576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EAFB99A8-8222-4C68-ACDB-26F50DED1859}"/>
              </a:ext>
            </a:extLst>
          </p:cNvPr>
          <p:cNvCxnSpPr>
            <a:cxnSpLocks/>
            <a:stCxn id="3" idx="3"/>
            <a:endCxn id="74" idx="1"/>
          </p:cNvCxnSpPr>
          <p:nvPr/>
        </p:nvCxnSpPr>
        <p:spPr>
          <a:xfrm>
            <a:off x="4937760" y="1065830"/>
            <a:ext cx="1954530" cy="1048477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37" name="TextBox 36"/>
          <p:cNvSpPr txBox="1"/>
          <p:nvPr/>
        </p:nvSpPr>
        <p:spPr>
          <a:xfrm>
            <a:off x="6862704" y="553653"/>
            <a:ext cx="2281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Applied resources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946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Соединительная линия уступом 115"/>
          <p:cNvCxnSpPr>
            <a:stCxn id="114" idx="2"/>
            <a:endCxn id="10" idx="3"/>
          </p:cNvCxnSpPr>
          <p:nvPr/>
        </p:nvCxnSpPr>
        <p:spPr>
          <a:xfrm rot="10800000" flipV="1">
            <a:off x="1753289" y="3929922"/>
            <a:ext cx="664452" cy="373572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sp>
        <p:nvSpPr>
          <p:cNvPr id="117" name="Прямоугольник 116"/>
          <p:cNvSpPr/>
          <p:nvPr/>
        </p:nvSpPr>
        <p:spPr>
          <a:xfrm>
            <a:off x="2365864" y="2931218"/>
            <a:ext cx="1673156" cy="14137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1" name="Прямоугольник 100"/>
          <p:cNvSpPr/>
          <p:nvPr/>
        </p:nvSpPr>
        <p:spPr>
          <a:xfrm>
            <a:off x="679343" y="1125726"/>
            <a:ext cx="1190624" cy="2476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Roughness</a:t>
            </a:r>
            <a:endParaRPr lang="ru-RU" sz="120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Resources. Models</a:t>
            </a:r>
            <a:endParaRPr lang="ru-RU" dirty="0"/>
          </a:p>
        </p:txBody>
      </p:sp>
      <p:pic>
        <p:nvPicPr>
          <p:cNvPr id="8" name="Рисунок 7" descr="GLTFEXAMPLE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144070" y="1154754"/>
            <a:ext cx="1510053" cy="309244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277659" y="765193"/>
            <a:ext cx="3229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format </a:t>
            </a:r>
            <a:r>
              <a:rPr lang="ru-RU" dirty="0"/>
              <a:t>– </a:t>
            </a:r>
            <a:r>
              <a:rPr lang="en-US" dirty="0"/>
              <a:t>GLTF (GLB).</a:t>
            </a:r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806464" y="4131638"/>
            <a:ext cx="946825" cy="34371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Scene</a:t>
            </a: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320684" y="3697137"/>
            <a:ext cx="667422" cy="26912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</a:t>
            </a:r>
            <a:endParaRPr lang="ru-RU" sz="1600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35798" y="3168602"/>
            <a:ext cx="632032" cy="26912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</a:t>
            </a:r>
            <a:endParaRPr lang="ru-RU" sz="1600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525512" y="3690654"/>
            <a:ext cx="649458" cy="26912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</a:t>
            </a:r>
            <a:endParaRPr lang="ru-RU" sz="1600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1022363" y="3171844"/>
            <a:ext cx="641496" cy="269129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node</a:t>
            </a:r>
            <a:endParaRPr lang="ru-RU" sz="1600" dirty="0"/>
          </a:p>
        </p:txBody>
      </p:sp>
      <p:cxnSp>
        <p:nvCxnSpPr>
          <p:cNvPr id="19" name="Прямая со стрелкой 18"/>
          <p:cNvCxnSpPr>
            <a:cxnSpLocks/>
            <a:stCxn id="10" idx="0"/>
            <a:endCxn id="16" idx="2"/>
          </p:cNvCxnSpPr>
          <p:nvPr/>
        </p:nvCxnSpPr>
        <p:spPr>
          <a:xfrm flipH="1" flipV="1">
            <a:off x="850241" y="3959783"/>
            <a:ext cx="429636" cy="1718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cxnSpLocks/>
            <a:stCxn id="10" idx="0"/>
            <a:endCxn id="14" idx="2"/>
          </p:cNvCxnSpPr>
          <p:nvPr/>
        </p:nvCxnSpPr>
        <p:spPr>
          <a:xfrm flipV="1">
            <a:off x="1279877" y="3966266"/>
            <a:ext cx="374518" cy="1653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cxnSpLocks/>
            <a:stCxn id="16" idx="0"/>
            <a:endCxn id="15" idx="2"/>
          </p:cNvCxnSpPr>
          <p:nvPr/>
        </p:nvCxnSpPr>
        <p:spPr>
          <a:xfrm flipH="1" flipV="1">
            <a:off x="451814" y="3437731"/>
            <a:ext cx="398427" cy="252923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cxnSpLocks/>
            <a:stCxn id="16" idx="0"/>
            <a:endCxn id="17" idx="2"/>
          </p:cNvCxnSpPr>
          <p:nvPr/>
        </p:nvCxnSpPr>
        <p:spPr>
          <a:xfrm flipV="1">
            <a:off x="850241" y="3440973"/>
            <a:ext cx="492870" cy="24968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1" name="Прямоугольник 50"/>
          <p:cNvSpPr/>
          <p:nvPr/>
        </p:nvSpPr>
        <p:spPr>
          <a:xfrm>
            <a:off x="217536" y="2561837"/>
            <a:ext cx="615950" cy="33357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mesh</a:t>
            </a:r>
            <a:endParaRPr lang="ru-RU" sz="14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928736" y="2561837"/>
            <a:ext cx="615950" cy="33357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mesh</a:t>
            </a:r>
            <a:endParaRPr lang="ru-RU" sz="1400" dirty="0"/>
          </a:p>
        </p:txBody>
      </p:sp>
      <p:sp>
        <p:nvSpPr>
          <p:cNvPr id="57" name="Прямоугольник 56"/>
          <p:cNvSpPr/>
          <p:nvPr/>
        </p:nvSpPr>
        <p:spPr>
          <a:xfrm>
            <a:off x="1639936" y="2561837"/>
            <a:ext cx="615950" cy="33357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mesh</a:t>
            </a:r>
            <a:endParaRPr lang="ru-RU" sz="1400" dirty="0"/>
          </a:p>
        </p:txBody>
      </p:sp>
      <p:sp>
        <p:nvSpPr>
          <p:cNvPr id="74" name="Скругленный прямоугольник 73"/>
          <p:cNvSpPr/>
          <p:nvPr/>
        </p:nvSpPr>
        <p:spPr>
          <a:xfrm>
            <a:off x="96886" y="2063565"/>
            <a:ext cx="1079500" cy="29845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material</a:t>
            </a:r>
            <a:endParaRPr lang="ru-RU" sz="1600" dirty="0"/>
          </a:p>
        </p:txBody>
      </p:sp>
      <p:sp>
        <p:nvSpPr>
          <p:cNvPr id="75" name="Скругленный прямоугольник 74"/>
          <p:cNvSpPr/>
          <p:nvPr/>
        </p:nvSpPr>
        <p:spPr>
          <a:xfrm>
            <a:off x="1246236" y="2063565"/>
            <a:ext cx="1079500" cy="29845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material</a:t>
            </a:r>
            <a:endParaRPr lang="ru-RU" sz="1600" dirty="0"/>
          </a:p>
        </p:txBody>
      </p:sp>
      <p:cxnSp>
        <p:nvCxnSpPr>
          <p:cNvPr id="76" name="Прямая со стрелкой 75"/>
          <p:cNvCxnSpPr>
            <a:cxnSpLocks/>
            <a:stCxn id="14" idx="0"/>
            <a:endCxn id="57" idx="2"/>
          </p:cNvCxnSpPr>
          <p:nvPr/>
        </p:nvCxnSpPr>
        <p:spPr>
          <a:xfrm flipV="1">
            <a:off x="1654395" y="2895415"/>
            <a:ext cx="293516" cy="8017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79" name="Прямая со стрелкой 78"/>
          <p:cNvCxnSpPr>
            <a:cxnSpLocks/>
            <a:stCxn id="17" idx="0"/>
            <a:endCxn id="52" idx="2"/>
          </p:cNvCxnSpPr>
          <p:nvPr/>
        </p:nvCxnSpPr>
        <p:spPr>
          <a:xfrm flipH="1" flipV="1">
            <a:off x="1236711" y="2895415"/>
            <a:ext cx="106400" cy="2764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2" name="Прямая со стрелкой 81"/>
          <p:cNvCxnSpPr>
            <a:cxnSpLocks/>
            <a:stCxn id="15" idx="0"/>
            <a:endCxn id="51" idx="2"/>
          </p:cNvCxnSpPr>
          <p:nvPr/>
        </p:nvCxnSpPr>
        <p:spPr>
          <a:xfrm flipV="1">
            <a:off x="451814" y="2895415"/>
            <a:ext cx="73697" cy="2731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85" name="Прямая со стрелкой 84"/>
          <p:cNvCxnSpPr>
            <a:stCxn id="51" idx="0"/>
            <a:endCxn id="74" idx="2"/>
          </p:cNvCxnSpPr>
          <p:nvPr/>
        </p:nvCxnSpPr>
        <p:spPr>
          <a:xfrm flipV="1">
            <a:off x="525511" y="2362015"/>
            <a:ext cx="111125" cy="199822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Прямая со стрелкой 87"/>
          <p:cNvCxnSpPr>
            <a:stCxn id="52" idx="0"/>
            <a:endCxn id="74" idx="2"/>
          </p:cNvCxnSpPr>
          <p:nvPr/>
        </p:nvCxnSpPr>
        <p:spPr>
          <a:xfrm flipH="1" flipV="1">
            <a:off x="636636" y="2362015"/>
            <a:ext cx="600075" cy="199822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Прямая со стрелкой 90"/>
          <p:cNvCxnSpPr>
            <a:stCxn id="57" idx="0"/>
            <a:endCxn id="75" idx="2"/>
          </p:cNvCxnSpPr>
          <p:nvPr/>
        </p:nvCxnSpPr>
        <p:spPr>
          <a:xfrm flipH="1" flipV="1">
            <a:off x="1785986" y="2362015"/>
            <a:ext cx="161925" cy="199822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Прямоугольник 97"/>
          <p:cNvSpPr/>
          <p:nvPr/>
        </p:nvSpPr>
        <p:spPr>
          <a:xfrm>
            <a:off x="679344" y="1382901"/>
            <a:ext cx="1190624" cy="2476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Metallic</a:t>
            </a:r>
            <a:endParaRPr lang="ru-RU" sz="1200" dirty="0"/>
          </a:p>
        </p:txBody>
      </p:sp>
      <p:sp>
        <p:nvSpPr>
          <p:cNvPr id="102" name="Прямоугольник 101"/>
          <p:cNvSpPr/>
          <p:nvPr/>
        </p:nvSpPr>
        <p:spPr>
          <a:xfrm>
            <a:off x="679370" y="1642461"/>
            <a:ext cx="1190624" cy="2476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Base color</a:t>
            </a:r>
            <a:endParaRPr lang="ru-RU" sz="1200" dirty="0"/>
          </a:p>
        </p:txBody>
      </p:sp>
      <p:sp>
        <p:nvSpPr>
          <p:cNvPr id="113" name="Правая фигурная скобка 112"/>
          <p:cNvSpPr/>
          <p:nvPr/>
        </p:nvSpPr>
        <p:spPr>
          <a:xfrm rot="5400000">
            <a:off x="1208270" y="1401750"/>
            <a:ext cx="108778" cy="1159364"/>
          </a:xfrm>
          <a:prstGeom prst="rightBrace">
            <a:avLst>
              <a:gd name="adj1" fmla="val 0"/>
              <a:gd name="adj2" fmla="val 50000"/>
            </a:avLst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4" name="Овал 113"/>
          <p:cNvSpPr/>
          <p:nvPr/>
        </p:nvSpPr>
        <p:spPr>
          <a:xfrm>
            <a:off x="2417741" y="3547301"/>
            <a:ext cx="1556427" cy="765241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Skeletal animation</a:t>
            </a:r>
            <a:endParaRPr lang="ru-RU" sz="1600" dirty="0"/>
          </a:p>
        </p:txBody>
      </p:sp>
      <p:sp>
        <p:nvSpPr>
          <p:cNvPr id="118" name="Овал 117"/>
          <p:cNvSpPr/>
          <p:nvPr/>
        </p:nvSpPr>
        <p:spPr>
          <a:xfrm>
            <a:off x="2586355" y="2970128"/>
            <a:ext cx="1258111" cy="54800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Joints</a:t>
            </a:r>
            <a:endParaRPr lang="ru-RU" sz="1600" dirty="0"/>
          </a:p>
        </p:txBody>
      </p:sp>
      <p:cxnSp>
        <p:nvCxnSpPr>
          <p:cNvPr id="120" name="Соединительная линия уступом 119"/>
          <p:cNvCxnSpPr>
            <a:stCxn id="98" idx="3"/>
            <a:endCxn id="122" idx="1"/>
          </p:cNvCxnSpPr>
          <p:nvPr/>
        </p:nvCxnSpPr>
        <p:spPr>
          <a:xfrm>
            <a:off x="1869968" y="1506726"/>
            <a:ext cx="1021189" cy="50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22" name="Рисунок 121" descr="bottom_armor_mat_metallicRoughness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891157" y="1120959"/>
            <a:ext cx="772536" cy="7725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28" name="Соединительная линия уступом 127"/>
          <p:cNvCxnSpPr>
            <a:stCxn id="101" idx="3"/>
          </p:cNvCxnSpPr>
          <p:nvPr/>
        </p:nvCxnSpPr>
        <p:spPr>
          <a:xfrm>
            <a:off x="1869967" y="1249551"/>
            <a:ext cx="1021190" cy="257676"/>
          </a:xfrm>
          <a:prstGeom prst="bentConnector3">
            <a:avLst>
              <a:gd name="adj1" fmla="val 50000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pic>
        <p:nvPicPr>
          <p:cNvPr id="133" name="Рисунок 132" descr="bottom_armor_mat_baseColor.jpe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900478" y="1952775"/>
            <a:ext cx="766052" cy="7660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38" name="Соединительная линия уступом 137"/>
          <p:cNvCxnSpPr>
            <a:stCxn id="102" idx="3"/>
            <a:endCxn id="133" idx="1"/>
          </p:cNvCxnSpPr>
          <p:nvPr/>
        </p:nvCxnSpPr>
        <p:spPr>
          <a:xfrm>
            <a:off x="1869994" y="1766286"/>
            <a:ext cx="1030484" cy="569515"/>
          </a:xfrm>
          <a:prstGeom prst="bentConnector3">
            <a:avLst>
              <a:gd name="adj1" fmla="val 60168"/>
            </a:avLst>
          </a:prstGeom>
          <a:ln>
            <a:tailEnd type="arrow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cxnSp>
      <p:pic>
        <p:nvPicPr>
          <p:cNvPr id="40" name="CGSG__TAM Project 2026-04-23 21-20-16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8" cstate="print"/>
          <a:stretch>
            <a:fillRect/>
          </a:stretch>
        </p:blipFill>
        <p:spPr>
          <a:xfrm>
            <a:off x="5764192" y="1804202"/>
            <a:ext cx="3206187" cy="180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0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35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CPU and GPU Matrix Recalculation Test</a:t>
            </a:r>
            <a:endParaRPr lang="ru-RU" dirty="0"/>
          </a:p>
        </p:txBody>
      </p:sp>
      <p:pic>
        <p:nvPicPr>
          <p:cNvPr id="1029" name="Picture 5" descr="Z:\10triangles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5217" y="1085282"/>
            <a:ext cx="4203321" cy="1672039"/>
          </a:xfrm>
          <a:prstGeom prst="rect">
            <a:avLst/>
          </a:prstGeom>
          <a:noFill/>
        </p:spPr>
      </p:pic>
      <p:sp>
        <p:nvSpPr>
          <p:cNvPr id="10" name="Рамка 9"/>
          <p:cNvSpPr/>
          <p:nvPr/>
        </p:nvSpPr>
        <p:spPr>
          <a:xfrm>
            <a:off x="1617260" y="1944806"/>
            <a:ext cx="4285397" cy="846161"/>
          </a:xfrm>
          <a:prstGeom prst="frame">
            <a:avLst>
              <a:gd name="adj1" fmla="val 560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1" name="Рамка 10"/>
          <p:cNvSpPr/>
          <p:nvPr/>
        </p:nvSpPr>
        <p:spPr>
          <a:xfrm>
            <a:off x="1630907" y="1050878"/>
            <a:ext cx="4264926" cy="259307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455391" y="941696"/>
            <a:ext cx="1282890" cy="5868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ru-RU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6396251" y="3673524"/>
            <a:ext cx="1282890" cy="5868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GPU</a:t>
            </a:r>
            <a:endParaRPr lang="ru-RU" dirty="0"/>
          </a:p>
        </p:txBody>
      </p:sp>
      <p:sp>
        <p:nvSpPr>
          <p:cNvPr id="14" name="Стрелка вниз 13"/>
          <p:cNvSpPr/>
          <p:nvPr/>
        </p:nvSpPr>
        <p:spPr>
          <a:xfrm>
            <a:off x="3473357" y="2947917"/>
            <a:ext cx="655092" cy="6346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1542197" y="3662151"/>
            <a:ext cx="4462817" cy="5868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 GPU </a:t>
            </a:r>
            <a:r>
              <a:rPr lang="en-US" dirty="0" err="1"/>
              <a:t>Recalc</a:t>
            </a:r>
            <a:r>
              <a:rPr lang="en-US" dirty="0"/>
              <a:t> Matrixes: 0.02099ms [1.29%]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2084207" y="707167"/>
            <a:ext cx="3724922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400" b="1" dirty="0"/>
              <a:t>Recalculation of matrices of 1000 primitives</a:t>
            </a:r>
            <a:endParaRPr lang="ru-RU" sz="1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Matrix recalculation</a:t>
            </a:r>
            <a:endParaRPr lang="ru-RU" dirty="0"/>
          </a:p>
        </p:txBody>
      </p:sp>
      <p:sp>
        <p:nvSpPr>
          <p:cNvPr id="72" name="Скругленный прямоугольник 71"/>
          <p:cNvSpPr/>
          <p:nvPr/>
        </p:nvSpPr>
        <p:spPr>
          <a:xfrm>
            <a:off x="535905" y="762000"/>
            <a:ext cx="1414816" cy="922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Скругленный прямоугольник 72"/>
          <p:cNvSpPr/>
          <p:nvPr/>
        </p:nvSpPr>
        <p:spPr>
          <a:xfrm>
            <a:off x="688305" y="861060"/>
            <a:ext cx="1414816" cy="922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Скругленный прямоугольник 73"/>
          <p:cNvSpPr/>
          <p:nvPr/>
        </p:nvSpPr>
        <p:spPr>
          <a:xfrm>
            <a:off x="840705" y="1013460"/>
            <a:ext cx="1414816" cy="922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Скругленный прямоугольник 74"/>
          <p:cNvSpPr/>
          <p:nvPr/>
        </p:nvSpPr>
        <p:spPr>
          <a:xfrm>
            <a:off x="993105" y="1165860"/>
            <a:ext cx="1414816" cy="92201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Units</a:t>
            </a:r>
            <a:endParaRPr lang="ru-RU" dirty="0"/>
          </a:p>
        </p:txBody>
      </p:sp>
      <p:graphicFrame>
        <p:nvGraphicFramePr>
          <p:cNvPr id="78" name="Таблица 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199452"/>
              </p:ext>
            </p:extLst>
          </p:nvPr>
        </p:nvGraphicFramePr>
        <p:xfrm>
          <a:off x="7120377" y="1360821"/>
          <a:ext cx="1908471" cy="51179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19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5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04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1791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Прямоугольник 78"/>
          <p:cNvSpPr/>
          <p:nvPr/>
        </p:nvSpPr>
        <p:spPr>
          <a:xfrm>
            <a:off x="7121017" y="906780"/>
            <a:ext cx="1908684" cy="44818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Matrix buffer</a:t>
            </a:r>
            <a:endParaRPr lang="ru-RU" dirty="0"/>
          </a:p>
        </p:txBody>
      </p:sp>
      <p:sp>
        <p:nvSpPr>
          <p:cNvPr id="81" name="Прямоугольник 80"/>
          <p:cNvSpPr/>
          <p:nvPr/>
        </p:nvSpPr>
        <p:spPr>
          <a:xfrm>
            <a:off x="6873239" y="2547937"/>
            <a:ext cx="2199323" cy="52235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75000"/>
              </a:lnSpc>
            </a:pPr>
            <a:r>
              <a:rPr lang="en-US" sz="1600" dirty="0"/>
              <a:t>Recalculated matrix buffer</a:t>
            </a:r>
            <a:endParaRPr lang="ru-RU" sz="1600" dirty="0"/>
          </a:p>
        </p:txBody>
      </p:sp>
      <p:graphicFrame>
        <p:nvGraphicFramePr>
          <p:cNvPr id="82" name="Таблица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26471"/>
              </p:ext>
            </p:extLst>
          </p:nvPr>
        </p:nvGraphicFramePr>
        <p:xfrm>
          <a:off x="6870698" y="3082925"/>
          <a:ext cx="2195952" cy="93015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8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4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4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4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44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61454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700"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3" name="Стрелка влево 82"/>
          <p:cNvSpPr/>
          <p:nvPr/>
        </p:nvSpPr>
        <p:spPr>
          <a:xfrm rot="10800000">
            <a:off x="6483906" y="1013459"/>
            <a:ext cx="526494" cy="736793"/>
          </a:xfrm>
          <a:prstGeom prst="lef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" name="Прямоугольник 86"/>
          <p:cNvSpPr/>
          <p:nvPr/>
        </p:nvSpPr>
        <p:spPr>
          <a:xfrm>
            <a:off x="4375735" y="891250"/>
            <a:ext cx="2008298" cy="6248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8" name="Прямоугольник 87"/>
          <p:cNvSpPr/>
          <p:nvPr/>
        </p:nvSpPr>
        <p:spPr>
          <a:xfrm>
            <a:off x="4231719" y="1081938"/>
            <a:ext cx="2008298" cy="6248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9" name="Прямоугольник 88"/>
          <p:cNvSpPr/>
          <p:nvPr/>
        </p:nvSpPr>
        <p:spPr>
          <a:xfrm>
            <a:off x="4087703" y="1264920"/>
            <a:ext cx="2008298" cy="6248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Primitive</a:t>
            </a:r>
          </a:p>
          <a:p>
            <a:pPr algn="ctr"/>
            <a:r>
              <a:rPr lang="en-US" dirty="0"/>
              <a:t>world matrix</a:t>
            </a:r>
            <a:r>
              <a:rPr lang="ru-RU" dirty="0"/>
              <a:t>а</a:t>
            </a:r>
          </a:p>
        </p:txBody>
      </p:sp>
      <p:sp>
        <p:nvSpPr>
          <p:cNvPr id="96" name="Стрелка вправо 95"/>
          <p:cNvSpPr/>
          <p:nvPr/>
        </p:nvSpPr>
        <p:spPr>
          <a:xfrm>
            <a:off x="2491741" y="857250"/>
            <a:ext cx="1562099" cy="120015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Drawing request</a:t>
            </a:r>
            <a:endParaRPr lang="ru-RU" dirty="0"/>
          </a:p>
        </p:txBody>
      </p:sp>
      <p:sp>
        <p:nvSpPr>
          <p:cNvPr id="110" name="Стрелка вниз 109"/>
          <p:cNvSpPr/>
          <p:nvPr/>
        </p:nvSpPr>
        <p:spPr>
          <a:xfrm>
            <a:off x="7239953" y="1932940"/>
            <a:ext cx="1644967" cy="573404"/>
          </a:xfrm>
          <a:prstGeom prst="downArrow">
            <a:avLst>
              <a:gd name="adj1" fmla="val 61589"/>
              <a:gd name="adj2" fmla="val 5000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shader</a:t>
            </a:r>
            <a:endParaRPr lang="ru-RU" dirty="0"/>
          </a:p>
        </p:txBody>
      </p:sp>
      <p:pic>
        <p:nvPicPr>
          <p:cNvPr id="111" name="Рисунок 110" descr="INSTANCINGEXAMPL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5740" y="2273300"/>
            <a:ext cx="5616928" cy="14310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4" name="Левая фигурная скобка 113"/>
          <p:cNvSpPr/>
          <p:nvPr/>
        </p:nvSpPr>
        <p:spPr>
          <a:xfrm rot="16200000">
            <a:off x="2192034" y="2496280"/>
            <a:ext cx="302785" cy="2756455"/>
          </a:xfrm>
          <a:prstGeom prst="leftBrace">
            <a:avLst>
              <a:gd name="adj1" fmla="val 8333"/>
              <a:gd name="adj2" fmla="val 4976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6" name="TextBox 115"/>
          <p:cNvSpPr txBox="1"/>
          <p:nvPr/>
        </p:nvSpPr>
        <p:spPr>
          <a:xfrm>
            <a:off x="1682749" y="4016582"/>
            <a:ext cx="1292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№1</a:t>
            </a:r>
            <a:r>
              <a:rPr lang="en-US" dirty="0"/>
              <a:t> model instances</a:t>
            </a:r>
            <a:endParaRPr lang="ru-RU" dirty="0"/>
          </a:p>
        </p:txBody>
      </p:sp>
      <p:sp>
        <p:nvSpPr>
          <p:cNvPr id="117" name="Левая фигурная скобка 116"/>
          <p:cNvSpPr/>
          <p:nvPr/>
        </p:nvSpPr>
        <p:spPr>
          <a:xfrm rot="16200000">
            <a:off x="4942736" y="2571329"/>
            <a:ext cx="302785" cy="2631758"/>
          </a:xfrm>
          <a:prstGeom prst="leftBrace">
            <a:avLst>
              <a:gd name="adj1" fmla="val 8333"/>
              <a:gd name="adj2" fmla="val 49762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" name="TextBox 117"/>
          <p:cNvSpPr txBox="1"/>
          <p:nvPr/>
        </p:nvSpPr>
        <p:spPr>
          <a:xfrm>
            <a:off x="4432300" y="4035632"/>
            <a:ext cx="123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№2</a:t>
            </a:r>
            <a:r>
              <a:rPr lang="en-US" dirty="0"/>
              <a:t> model instances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729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Render pipeline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104939" y="1358087"/>
            <a:ext cx="2048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Render pipeline cycle</a:t>
            </a:r>
            <a:endParaRPr lang="ru-RU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5629012" y="863822"/>
            <a:ext cx="3195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568" y="1278831"/>
            <a:ext cx="4766928" cy="2681397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49" y="1811586"/>
            <a:ext cx="3839138" cy="176890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7558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Скругленный прямоугольник 18"/>
          <p:cNvSpPr/>
          <p:nvPr/>
        </p:nvSpPr>
        <p:spPr>
          <a:xfrm>
            <a:off x="578664" y="913576"/>
            <a:ext cx="8318538" cy="35668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Render pipeline</a:t>
            </a:r>
            <a:endParaRPr lang="ru-RU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782554" y="1998402"/>
            <a:ext cx="1360466" cy="30107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Input geometry</a:t>
            </a:r>
            <a:endParaRPr lang="ru-RU" sz="1400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646041" y="996536"/>
            <a:ext cx="1237025" cy="21565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Opaque draw</a:t>
            </a:r>
            <a:endParaRPr lang="ru-RU" sz="1400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524337" y="2927718"/>
            <a:ext cx="1480432" cy="20656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Transparent draw</a:t>
            </a:r>
            <a:endParaRPr lang="ru-RU" sz="1400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367103" y="1001083"/>
            <a:ext cx="1237025" cy="206563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Opaque light</a:t>
            </a:r>
            <a:endParaRPr lang="ru-RU" sz="1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4247723" y="2927839"/>
            <a:ext cx="1508352" cy="20632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Transparent light</a:t>
            </a:r>
            <a:endParaRPr lang="ru-RU" sz="1400" dirty="0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7565399" y="1907463"/>
            <a:ext cx="1011175" cy="39468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Post Processing</a:t>
            </a:r>
            <a:endParaRPr lang="ru-RU" sz="1400" dirty="0"/>
          </a:p>
        </p:txBody>
      </p:sp>
      <p:sp>
        <p:nvSpPr>
          <p:cNvPr id="22" name="Стрелка углом 21"/>
          <p:cNvSpPr/>
          <p:nvPr/>
        </p:nvSpPr>
        <p:spPr>
          <a:xfrm rot="10800000" flipH="1" flipV="1">
            <a:off x="1322318" y="1525349"/>
            <a:ext cx="1323723" cy="47305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2646041" y="1310928"/>
            <a:ext cx="1237025" cy="784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820414" y="2375146"/>
            <a:ext cx="1237025" cy="784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Стрелка углом 27"/>
          <p:cNvSpPr/>
          <p:nvPr/>
        </p:nvSpPr>
        <p:spPr>
          <a:xfrm rot="10800000" flipH="1">
            <a:off x="1322318" y="3170145"/>
            <a:ext cx="1323723" cy="50223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2646041" y="3182489"/>
            <a:ext cx="1237025" cy="784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4367102" y="1310928"/>
            <a:ext cx="1237025" cy="784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Стрелка углом 31"/>
          <p:cNvSpPr/>
          <p:nvPr/>
        </p:nvSpPr>
        <p:spPr>
          <a:xfrm rot="16200000" flipH="1" flipV="1">
            <a:off x="5931383" y="1287080"/>
            <a:ext cx="394285" cy="1048798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Стрелка углом 32"/>
          <p:cNvSpPr/>
          <p:nvPr/>
        </p:nvSpPr>
        <p:spPr>
          <a:xfrm rot="16200000" flipV="1">
            <a:off x="5885827" y="2878042"/>
            <a:ext cx="485396" cy="104880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5909200" y="2340897"/>
            <a:ext cx="1237025" cy="784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5847480" y="1995416"/>
            <a:ext cx="1360466" cy="30704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Merge pass</a:t>
            </a:r>
            <a:endParaRPr lang="ru-RU" sz="1400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7452475" y="2336328"/>
            <a:ext cx="1237025" cy="784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трелка вправо 35"/>
          <p:cNvSpPr/>
          <p:nvPr/>
        </p:nvSpPr>
        <p:spPr>
          <a:xfrm>
            <a:off x="3886276" y="1534050"/>
            <a:ext cx="480826" cy="2318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Стрелка вправо 36"/>
          <p:cNvSpPr/>
          <p:nvPr/>
        </p:nvSpPr>
        <p:spPr>
          <a:xfrm>
            <a:off x="3881981" y="3481395"/>
            <a:ext cx="480826" cy="2318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Стрелка вправо 38"/>
          <p:cNvSpPr/>
          <p:nvPr/>
        </p:nvSpPr>
        <p:spPr>
          <a:xfrm>
            <a:off x="7161914" y="2610237"/>
            <a:ext cx="290562" cy="2318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Скругленный прямоугольник 43"/>
          <p:cNvSpPr/>
          <p:nvPr/>
        </p:nvSpPr>
        <p:spPr>
          <a:xfrm>
            <a:off x="7087223" y="3206020"/>
            <a:ext cx="1011175" cy="18759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Targets</a:t>
            </a:r>
            <a:endParaRPr lang="ru-RU" sz="1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040" y="1310927"/>
            <a:ext cx="1235941" cy="784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76" y="1310927"/>
            <a:ext cx="1239949" cy="7851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200" y="2326022"/>
            <a:ext cx="1237025" cy="8081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185" y="2326022"/>
            <a:ext cx="1239315" cy="8081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486" y="3431216"/>
            <a:ext cx="1241335" cy="7971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3785" y="3474135"/>
            <a:ext cx="1245644" cy="8070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8" name="Рисунок 3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393" y="3527692"/>
            <a:ext cx="1250384" cy="788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199" y="3597305"/>
            <a:ext cx="1245643" cy="788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164" y="3182019"/>
            <a:ext cx="1238817" cy="784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619" y="3182583"/>
            <a:ext cx="1243062" cy="791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413" y="2375146"/>
            <a:ext cx="1237027" cy="7845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9484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69" t="10460" r="13383" b="10573"/>
          <a:stretch/>
        </p:blipFill>
        <p:spPr>
          <a:xfrm>
            <a:off x="95250" y="762000"/>
            <a:ext cx="2127250" cy="1822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Resources. Lighting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71" y="689387"/>
            <a:ext cx="3661485" cy="20595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Скругленный прямоугольник 8"/>
          <p:cNvSpPr/>
          <p:nvPr/>
        </p:nvSpPr>
        <p:spPr>
          <a:xfrm>
            <a:off x="51258" y="2755557"/>
            <a:ext cx="2188027" cy="3098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Metallic &amp; Roughness</a:t>
            </a:r>
            <a:endParaRPr lang="ru-RU" sz="1400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279690" y="2755557"/>
            <a:ext cx="2188027" cy="3098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Normal mapping</a:t>
            </a:r>
            <a:endParaRPr lang="ru-RU" sz="1400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4508122" y="2748972"/>
            <a:ext cx="2188027" cy="3098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Albedo</a:t>
            </a:r>
            <a:endParaRPr lang="ru-RU" sz="1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56929" y="3959604"/>
            <a:ext cx="3273638" cy="46864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33" y="3105837"/>
            <a:ext cx="2673101" cy="188976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36" t="3095" r="7588" b="711"/>
          <a:stretch/>
        </p:blipFill>
        <p:spPr>
          <a:xfrm>
            <a:off x="6696149" y="753809"/>
            <a:ext cx="2270750" cy="1954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703" y="701066"/>
            <a:ext cx="3661485" cy="20595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Скругленный прямоугольник 13"/>
          <p:cNvSpPr/>
          <p:nvPr/>
        </p:nvSpPr>
        <p:spPr>
          <a:xfrm>
            <a:off x="6736554" y="2748972"/>
            <a:ext cx="2188027" cy="30988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Final color</a:t>
            </a:r>
            <a:endParaRPr lang="ru-RU" sz="14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556929" y="3383037"/>
            <a:ext cx="3273638" cy="48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06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Animation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71451" y="793750"/>
            <a:ext cx="5524500" cy="3543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965296" y="2108200"/>
            <a:ext cx="1444904" cy="671476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Animation system</a:t>
            </a:r>
            <a:endParaRPr lang="ru-RU" sz="1400" b="1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1903002" y="134492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b="1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147737" y="2387600"/>
            <a:ext cx="1251431" cy="4839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Render</a:t>
            </a:r>
            <a:endParaRPr lang="ru-RU" sz="1400" b="1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2158519" y="2971800"/>
            <a:ext cx="1251431" cy="4839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Input systems</a:t>
            </a:r>
            <a:endParaRPr lang="ru-RU" sz="1400" b="1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1998252" y="142112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b="1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118902" y="151637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b="1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2239552" y="162432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Units</a:t>
            </a:r>
            <a:endParaRPr lang="ru-RU" sz="1050" b="1" dirty="0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2164869" y="3543300"/>
            <a:ext cx="1251431" cy="48398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Timer</a:t>
            </a:r>
            <a:endParaRPr lang="ru-RU" sz="1400" b="1" dirty="0"/>
          </a:p>
        </p:txBody>
      </p:sp>
      <p:sp>
        <p:nvSpPr>
          <p:cNvPr id="22" name="Правая фигурная скобка 21"/>
          <p:cNvSpPr/>
          <p:nvPr/>
        </p:nvSpPr>
        <p:spPr>
          <a:xfrm>
            <a:off x="3321050" y="1168400"/>
            <a:ext cx="565150" cy="2997200"/>
          </a:xfrm>
          <a:prstGeom prst="rightBrace">
            <a:avLst>
              <a:gd name="adj1" fmla="val 48512"/>
              <a:gd name="adj2" fmla="val 42797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ln w="28575">
                <a:solidFill>
                  <a:schemeClr val="accent1"/>
                </a:solidFill>
              </a:ln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328202" y="225297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b="1" dirty="0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391702" y="229107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b="1" dirty="0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455202" y="234187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 b="1" dirty="0"/>
          </a:p>
        </p:txBody>
      </p:sp>
      <p:cxnSp>
        <p:nvCxnSpPr>
          <p:cNvPr id="30" name="Прямая со стрелкой 29"/>
          <p:cNvCxnSpPr>
            <a:endCxn id="10" idx="1"/>
          </p:cNvCxnSpPr>
          <p:nvPr/>
        </p:nvCxnSpPr>
        <p:spPr>
          <a:xfrm flipV="1">
            <a:off x="1447800" y="2629590"/>
            <a:ext cx="699937" cy="566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Скругленный прямоугольник 26"/>
          <p:cNvSpPr/>
          <p:nvPr/>
        </p:nvSpPr>
        <p:spPr>
          <a:xfrm>
            <a:off x="531402" y="2399024"/>
            <a:ext cx="1278348" cy="53467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Resources</a:t>
            </a:r>
            <a:endParaRPr lang="ru-RU" sz="1200" b="1" dirty="0"/>
          </a:p>
        </p:txBody>
      </p:sp>
      <p:pic>
        <p:nvPicPr>
          <p:cNvPr id="20" name="spider_animatio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 cstate="print"/>
          <a:stretch>
            <a:fillRect/>
          </a:stretch>
        </p:blipFill>
        <p:spPr>
          <a:xfrm>
            <a:off x="5891513" y="1770203"/>
            <a:ext cx="3102016" cy="174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0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8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4548623" y="3977201"/>
            <a:ext cx="1461760" cy="47332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Editor</a:t>
            </a:r>
            <a:endParaRPr lang="ru-RU" sz="16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717115" y="2595712"/>
            <a:ext cx="1224158" cy="82411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Current layout</a:t>
            </a:r>
            <a:endParaRPr lang="ru-RU" sz="1600" dirty="0"/>
          </a:p>
        </p:txBody>
      </p:sp>
      <p:sp>
        <p:nvSpPr>
          <p:cNvPr id="8" name="Стрелка вправо 7"/>
          <p:cNvSpPr/>
          <p:nvPr/>
        </p:nvSpPr>
        <p:spPr>
          <a:xfrm>
            <a:off x="6089650" y="4013666"/>
            <a:ext cx="448958" cy="42253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9" name="Прямоугольник 8"/>
          <p:cNvSpPr/>
          <p:nvPr/>
        </p:nvSpPr>
        <p:spPr>
          <a:xfrm>
            <a:off x="6600230" y="3821028"/>
            <a:ext cx="2092919" cy="7738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Determining the active editor tab</a:t>
            </a:r>
            <a:endParaRPr lang="ru-RU" sz="1600" dirty="0"/>
          </a:p>
        </p:txBody>
      </p:sp>
      <p:sp>
        <p:nvSpPr>
          <p:cNvPr id="11" name="Стрелка вправо 10"/>
          <p:cNvSpPr/>
          <p:nvPr/>
        </p:nvSpPr>
        <p:spPr>
          <a:xfrm rot="16200000">
            <a:off x="5094345" y="3471285"/>
            <a:ext cx="438690" cy="454640"/>
          </a:xfrm>
          <a:prstGeom prst="rightArrow">
            <a:avLst>
              <a:gd name="adj1" fmla="val 36460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715619" y="2416449"/>
            <a:ext cx="1788442" cy="105101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Active editor unit</a:t>
            </a:r>
            <a:endParaRPr lang="ru-RU" sz="1600" dirty="0"/>
          </a:p>
        </p:txBody>
      </p:sp>
      <p:sp>
        <p:nvSpPr>
          <p:cNvPr id="13" name="Стрелка вверх 12"/>
          <p:cNvSpPr/>
          <p:nvPr/>
        </p:nvSpPr>
        <p:spPr>
          <a:xfrm>
            <a:off x="7396876" y="3480395"/>
            <a:ext cx="467838" cy="308690"/>
          </a:xfrm>
          <a:prstGeom prst="upArrow">
            <a:avLst>
              <a:gd name="adj1" fmla="val 41398"/>
              <a:gd name="adj2" fmla="val 50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sp>
        <p:nvSpPr>
          <p:cNvPr id="14" name="Двойная стрелка влево/вправо 13"/>
          <p:cNvSpPr/>
          <p:nvPr/>
        </p:nvSpPr>
        <p:spPr>
          <a:xfrm>
            <a:off x="6013450" y="2811307"/>
            <a:ext cx="635000" cy="329876"/>
          </a:xfrm>
          <a:prstGeom prst="left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/>
          </a:p>
        </p:txBody>
      </p:sp>
      <p:pic>
        <p:nvPicPr>
          <p:cNvPr id="15" name="Рисунок 14" descr="WALLSEXAMPLE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6720" y="812978"/>
            <a:ext cx="3114040" cy="3454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Прямоугольник 17"/>
          <p:cNvSpPr/>
          <p:nvPr/>
        </p:nvSpPr>
        <p:spPr>
          <a:xfrm>
            <a:off x="3953510" y="1129030"/>
            <a:ext cx="2197100" cy="36195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Active tab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4676140" y="1875790"/>
            <a:ext cx="2190750" cy="381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Its filling</a:t>
            </a:r>
            <a:endParaRPr lang="ru-RU" dirty="0"/>
          </a:p>
        </p:txBody>
      </p:sp>
      <p:cxnSp>
        <p:nvCxnSpPr>
          <p:cNvPr id="22" name="Прямая со стрелкой 21"/>
          <p:cNvCxnSpPr>
            <a:stCxn id="19" idx="1"/>
          </p:cNvCxnSpPr>
          <p:nvPr/>
        </p:nvCxnSpPr>
        <p:spPr>
          <a:xfrm flipH="1">
            <a:off x="1737360" y="2066290"/>
            <a:ext cx="2938780" cy="57531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 descr="WALLSEXAMPLE2.png"/>
          <p:cNvPicPr>
            <a:picLocks noChangeAspect="1"/>
          </p:cNvPicPr>
          <p:nvPr/>
        </p:nvPicPr>
        <p:blipFill rotWithShape="1">
          <a:blip r:embed="rId3" cstate="print"/>
          <a:srcRect l="35658" t="3552" r="43052" b="52997"/>
          <a:stretch/>
        </p:blipFill>
        <p:spPr>
          <a:xfrm>
            <a:off x="1496360" y="694481"/>
            <a:ext cx="795830" cy="1802051"/>
          </a:xfrm>
          <a:prstGeom prst="rect">
            <a:avLst/>
          </a:prstGeom>
          <a:ln w="127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7" name="Прямая со стрелкой 16"/>
          <p:cNvCxnSpPr>
            <a:stCxn id="18" idx="1"/>
          </p:cNvCxnSpPr>
          <p:nvPr/>
        </p:nvCxnSpPr>
        <p:spPr>
          <a:xfrm flipH="1" flipV="1">
            <a:off x="1983740" y="1235288"/>
            <a:ext cx="1969770" cy="74717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929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Скругленный прямоугольник 19"/>
          <p:cNvSpPr/>
          <p:nvPr/>
        </p:nvSpPr>
        <p:spPr>
          <a:xfrm>
            <a:off x="5276850" y="2768600"/>
            <a:ext cx="844550" cy="463550"/>
          </a:xfrm>
          <a:prstGeom prst="roundRect">
            <a:avLst>
              <a:gd name="adj" fmla="val 11188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b="1" i="1" dirty="0"/>
              <a:t>adaptive interface</a:t>
            </a:r>
            <a:endParaRPr lang="ru-RU" sz="1100" b="1" i="1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Premises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79397" y="1435101"/>
            <a:ext cx="2692258" cy="1423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173081" y="2939764"/>
            <a:ext cx="2697869" cy="1430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Скругленный прямоугольник 9"/>
          <p:cNvSpPr/>
          <p:nvPr/>
        </p:nvSpPr>
        <p:spPr>
          <a:xfrm>
            <a:off x="6178692" y="843530"/>
            <a:ext cx="2710242" cy="51702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Setting up wall parameters (window, door, and their parameters)</a:t>
            </a:r>
            <a:endParaRPr lang="ru-RU" sz="1300" dirty="0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146420" y="1266916"/>
            <a:ext cx="1141360" cy="775244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Creation of premises</a:t>
            </a:r>
            <a:endParaRPr lang="ru-RU" sz="1300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146091" y="3169312"/>
            <a:ext cx="1156940" cy="803942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/>
              <a:t>Downloading floor plans</a:t>
            </a:r>
            <a:endParaRPr lang="ru-RU" sz="1300" dirty="0"/>
          </a:p>
        </p:txBody>
      </p:sp>
      <p:cxnSp>
        <p:nvCxnSpPr>
          <p:cNvPr id="22" name="Shape 21"/>
          <p:cNvCxnSpPr>
            <a:stCxn id="20" idx="0"/>
          </p:cNvCxnSpPr>
          <p:nvPr/>
        </p:nvCxnSpPr>
        <p:spPr>
          <a:xfrm rot="5400000" flipH="1" flipV="1">
            <a:off x="5700712" y="2303463"/>
            <a:ext cx="463550" cy="466725"/>
          </a:xfrm>
          <a:prstGeom prst="bentConnector2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hape 23"/>
          <p:cNvCxnSpPr>
            <a:stCxn id="20" idx="2"/>
          </p:cNvCxnSpPr>
          <p:nvPr/>
        </p:nvCxnSpPr>
        <p:spPr>
          <a:xfrm rot="16200000" flipH="1">
            <a:off x="5686615" y="3244660"/>
            <a:ext cx="505326" cy="480306"/>
          </a:xfrm>
          <a:prstGeom prst="bentConnector3">
            <a:avLst>
              <a:gd name="adj1" fmla="val 100265"/>
            </a:avLst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 cstate="print"/>
          <a:srcRect t="50999" r="68318" b="34130"/>
          <a:stretch>
            <a:fillRect/>
          </a:stretch>
        </p:blipFill>
        <p:spPr bwMode="auto">
          <a:xfrm>
            <a:off x="6153154" y="2250281"/>
            <a:ext cx="1410784" cy="35004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0" cstate="print"/>
          <a:srcRect t="50250" r="66465" b="31737"/>
          <a:stretch>
            <a:fillRect/>
          </a:stretch>
        </p:blipFill>
        <p:spPr bwMode="auto">
          <a:xfrm>
            <a:off x="6148618" y="3719506"/>
            <a:ext cx="1463348" cy="41672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demo_WALLS_SpeedUp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11" cstate="print"/>
          <a:stretch>
            <a:fillRect/>
          </a:stretch>
        </p:blipFill>
        <p:spPr>
          <a:xfrm>
            <a:off x="1504710" y="729109"/>
            <a:ext cx="3255488" cy="1831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Layout_Vide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>
          <a:blip r:embed="rId12" cstate="print"/>
          <a:stretch>
            <a:fillRect/>
          </a:stretch>
        </p:blipFill>
        <p:spPr>
          <a:xfrm>
            <a:off x="1511463" y="2715661"/>
            <a:ext cx="3245972" cy="18258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3619958"/>
      </p:ext>
    </p:extLst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82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338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471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0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>
                <p:cTn id="16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Rooms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 cstate="print"/>
          <a:srcRect t="19561" r="76921" b="2163"/>
          <a:stretch/>
        </p:blipFill>
        <p:spPr>
          <a:xfrm>
            <a:off x="394117" y="1691640"/>
            <a:ext cx="1343026" cy="256218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630161" y="1310106"/>
            <a:ext cx="4937342" cy="2777256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3630161" y="1993900"/>
            <a:ext cx="1145039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2164559" y="1361653"/>
            <a:ext cx="1257300" cy="5461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Adding a room</a:t>
            </a:r>
            <a:endParaRPr lang="ru-RU" sz="1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630160" y="2298700"/>
            <a:ext cx="490990" cy="1206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198300" y="2298700"/>
            <a:ext cx="1189818" cy="51752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Loading texture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630160" y="2419350"/>
            <a:ext cx="1094240" cy="584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2198300" y="3052019"/>
            <a:ext cx="1257300" cy="6223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Output parameters</a:t>
            </a:r>
            <a:endParaRPr lang="ru-RU" sz="1400" dirty="0"/>
          </a:p>
        </p:txBody>
      </p:sp>
      <p:cxnSp>
        <p:nvCxnSpPr>
          <p:cNvPr id="14" name="Соединительная линия уступом 13"/>
          <p:cNvCxnSpPr>
            <a:stCxn id="8" idx="3"/>
            <a:endCxn id="7" idx="1"/>
          </p:cNvCxnSpPr>
          <p:nvPr/>
        </p:nvCxnSpPr>
        <p:spPr>
          <a:xfrm>
            <a:off x="3421859" y="1634703"/>
            <a:ext cx="208302" cy="43539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/>
          <p:cNvCxnSpPr>
            <a:stCxn id="10" idx="3"/>
            <a:endCxn id="9" idx="1"/>
          </p:cNvCxnSpPr>
          <p:nvPr/>
        </p:nvCxnSpPr>
        <p:spPr>
          <a:xfrm flipV="1">
            <a:off x="3388118" y="2359025"/>
            <a:ext cx="242042" cy="1984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ная линия уступом 17"/>
          <p:cNvCxnSpPr>
            <a:stCxn id="12" idx="3"/>
            <a:endCxn id="6" idx="1"/>
          </p:cNvCxnSpPr>
          <p:nvPr/>
        </p:nvCxnSpPr>
        <p:spPr>
          <a:xfrm flipV="1">
            <a:off x="3455600" y="2698734"/>
            <a:ext cx="174561" cy="6644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Скругленный прямоугольник 18"/>
          <p:cNvSpPr/>
          <p:nvPr/>
        </p:nvSpPr>
        <p:spPr>
          <a:xfrm>
            <a:off x="316661" y="954946"/>
            <a:ext cx="1574800" cy="61595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Editing the wall and floor textures of a specific room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48217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Furniture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925" y="1262567"/>
            <a:ext cx="2562260" cy="2231427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62550" y="2202895"/>
            <a:ext cx="2682240" cy="2307899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896150" y="769330"/>
            <a:ext cx="2800000" cy="123809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Скругленный прямоугольник 10"/>
          <p:cNvSpPr/>
          <p:nvPr/>
        </p:nvSpPr>
        <p:spPr>
          <a:xfrm>
            <a:off x="2942030" y="2532484"/>
            <a:ext cx="1589511" cy="835556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Axis-aligned bound-box</a:t>
            </a:r>
            <a:endParaRPr lang="ru-RU" dirty="0"/>
          </a:p>
        </p:txBody>
      </p:sp>
      <p:cxnSp>
        <p:nvCxnSpPr>
          <p:cNvPr id="12" name="Прямая со стрелкой 11"/>
          <p:cNvCxnSpPr>
            <a:endCxn id="11" idx="3"/>
          </p:cNvCxnSpPr>
          <p:nvPr/>
        </p:nvCxnSpPr>
        <p:spPr>
          <a:xfrm rot="10800000">
            <a:off x="4531541" y="2950262"/>
            <a:ext cx="1287780" cy="15300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2964180" y="3518232"/>
            <a:ext cx="1569720" cy="840408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Oriented bound-box</a:t>
            </a: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2977691" y="1582110"/>
            <a:ext cx="1440180" cy="808936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Rotation around axes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985248" y="764398"/>
            <a:ext cx="1525856" cy="679241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Type Name</a:t>
            </a:r>
          </a:p>
          <a:p>
            <a:pPr algn="ctr"/>
            <a:r>
              <a:rPr lang="en-US" dirty="0"/>
              <a:t>Model Name</a:t>
            </a:r>
            <a:endParaRPr lang="ru-RU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4607268" y="951704"/>
            <a:ext cx="1200274" cy="560977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Furniture type</a:t>
            </a:r>
            <a:endParaRPr lang="ru-RU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4588342" y="1663464"/>
            <a:ext cx="1219200" cy="343961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  <a:endParaRPr lang="ru-RU" dirty="0"/>
          </a:p>
        </p:txBody>
      </p:sp>
      <p:cxnSp>
        <p:nvCxnSpPr>
          <p:cNvPr id="20" name="Прямая со стрелкой 19"/>
          <p:cNvCxnSpPr>
            <a:endCxn id="13" idx="3"/>
          </p:cNvCxnSpPr>
          <p:nvPr/>
        </p:nvCxnSpPr>
        <p:spPr>
          <a:xfrm rot="10800000" flipV="1">
            <a:off x="4533900" y="3314116"/>
            <a:ext cx="1714500" cy="624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endCxn id="11" idx="1"/>
          </p:cNvCxnSpPr>
          <p:nvPr/>
        </p:nvCxnSpPr>
        <p:spPr>
          <a:xfrm>
            <a:off x="2567570" y="2739894"/>
            <a:ext cx="374460" cy="21036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endCxn id="13" idx="1"/>
          </p:cNvCxnSpPr>
          <p:nvPr/>
        </p:nvCxnSpPr>
        <p:spPr>
          <a:xfrm rot="16200000" flipH="1">
            <a:off x="2447493" y="3421749"/>
            <a:ext cx="707556" cy="3258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 flipH="1">
            <a:off x="2209800" y="930567"/>
            <a:ext cx="853441" cy="596335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>
            <a:off x="2447123" y="1262567"/>
            <a:ext cx="530569" cy="417158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>
            <a:stCxn id="14" idx="1"/>
          </p:cNvCxnSpPr>
          <p:nvPr/>
        </p:nvCxnSpPr>
        <p:spPr>
          <a:xfrm flipH="1" flipV="1">
            <a:off x="2569784" y="1950405"/>
            <a:ext cx="407907" cy="36173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stCxn id="14" idx="1"/>
          </p:cNvCxnSpPr>
          <p:nvPr/>
        </p:nvCxnSpPr>
        <p:spPr>
          <a:xfrm flipH="1">
            <a:off x="2545337" y="1986578"/>
            <a:ext cx="432354" cy="7995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>
            <a:stCxn id="14" idx="1"/>
          </p:cNvCxnSpPr>
          <p:nvPr/>
        </p:nvCxnSpPr>
        <p:spPr>
          <a:xfrm flipH="1">
            <a:off x="2569784" y="1986578"/>
            <a:ext cx="407907" cy="261233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>
            <a:stCxn id="17" idx="3"/>
          </p:cNvCxnSpPr>
          <p:nvPr/>
        </p:nvCxnSpPr>
        <p:spPr>
          <a:xfrm flipV="1">
            <a:off x="5807542" y="1587531"/>
            <a:ext cx="463718" cy="247914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stCxn id="16" idx="3"/>
          </p:cNvCxnSpPr>
          <p:nvPr/>
        </p:nvCxnSpPr>
        <p:spPr>
          <a:xfrm>
            <a:off x="5807542" y="1232193"/>
            <a:ext cx="318938" cy="12141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Скругленный прямоугольник 22"/>
          <p:cNvSpPr/>
          <p:nvPr/>
        </p:nvSpPr>
        <p:spPr>
          <a:xfrm>
            <a:off x="691234" y="3666318"/>
            <a:ext cx="2057099" cy="813447"/>
          </a:xfrm>
          <a:prstGeom prst="roundRect">
            <a:avLst/>
          </a:prstGeom>
          <a:solidFill>
            <a:srgbClr val="4472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furniture to the room</a:t>
            </a:r>
            <a:endParaRPr lang="ru-RU" dirty="0"/>
          </a:p>
        </p:txBody>
      </p:sp>
      <p:cxnSp>
        <p:nvCxnSpPr>
          <p:cNvPr id="24" name="Прямая со стрелкой 23"/>
          <p:cNvCxnSpPr>
            <a:stCxn id="23" idx="0"/>
          </p:cNvCxnSpPr>
          <p:nvPr/>
        </p:nvCxnSpPr>
        <p:spPr>
          <a:xfrm flipH="1" flipV="1">
            <a:off x="1136469" y="3289632"/>
            <a:ext cx="583315" cy="37668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573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Furniture arrangement</a:t>
            </a:r>
            <a:endParaRPr lang="ru-RU" dirty="0"/>
          </a:p>
        </p:txBody>
      </p:sp>
      <p:pic>
        <p:nvPicPr>
          <p:cNvPr id="3074" name="Picture 2" descr="Q:\2025-26\TAM\leti\PRESENTATION\videos\TO_GIF\Furniture_Placing_Video_gif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2640" y="724375"/>
            <a:ext cx="6606540" cy="3716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Прямоугольник с двумя скругленными противолежащими углами 12"/>
          <p:cNvSpPr/>
          <p:nvPr/>
        </p:nvSpPr>
        <p:spPr>
          <a:xfrm>
            <a:off x="68580" y="1051560"/>
            <a:ext cx="1653540" cy="1021080"/>
          </a:xfrm>
          <a:prstGeom prst="round2Diag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Movement along axes, rotation</a:t>
            </a:r>
            <a:endParaRPr lang="ru-RU" sz="1600" dirty="0"/>
          </a:p>
        </p:txBody>
      </p:sp>
      <p:sp>
        <p:nvSpPr>
          <p:cNvPr id="14" name="Стрелка вправо 13"/>
          <p:cNvSpPr/>
          <p:nvPr/>
        </p:nvSpPr>
        <p:spPr>
          <a:xfrm>
            <a:off x="1762127" y="1406361"/>
            <a:ext cx="278606" cy="291465"/>
          </a:xfrm>
          <a:prstGeom prst="rightArrow">
            <a:avLst>
              <a:gd name="adj1" fmla="val 50000"/>
              <a:gd name="adj2" fmla="val 36743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76200" y="2241550"/>
            <a:ext cx="1682750" cy="13652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 with mouse or sliders in the interface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991649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 descr="ai.png"/>
          <p:cNvPicPr>
            <a:picLocks noChangeAspect="1"/>
          </p:cNvPicPr>
          <p:nvPr/>
        </p:nvPicPr>
        <p:blipFill>
          <a:blip r:embed="rId3" cstate="print"/>
          <a:srcRect r="2780" b="4097"/>
          <a:stretch>
            <a:fillRect/>
          </a:stretch>
        </p:blipFill>
        <p:spPr>
          <a:xfrm>
            <a:off x="1979849" y="757171"/>
            <a:ext cx="6884751" cy="3567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Furniture arranger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132474" y="1001320"/>
            <a:ext cx="1552276" cy="554325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Override room type</a:t>
            </a:r>
            <a:endParaRPr lang="ru-RU" sz="14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32474" y="1924050"/>
            <a:ext cx="1486776" cy="79375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Rearranging furniture in all rooms</a:t>
            </a:r>
            <a:endParaRPr lang="ru-RU" sz="1400" dirty="0"/>
          </a:p>
        </p:txBody>
      </p:sp>
      <p:cxnSp>
        <p:nvCxnSpPr>
          <p:cNvPr id="8" name="Соединительная линия уступом 7"/>
          <p:cNvCxnSpPr>
            <a:endCxn id="5" idx="3"/>
          </p:cNvCxnSpPr>
          <p:nvPr/>
        </p:nvCxnSpPr>
        <p:spPr>
          <a:xfrm rot="16200000" flipV="1">
            <a:off x="1510192" y="1453042"/>
            <a:ext cx="880517" cy="531400"/>
          </a:xfrm>
          <a:prstGeom prst="bentConnector2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Соединительная линия уступом 9"/>
          <p:cNvCxnSpPr>
            <a:endCxn id="6" idx="3"/>
          </p:cNvCxnSpPr>
          <p:nvPr/>
        </p:nvCxnSpPr>
        <p:spPr>
          <a:xfrm rot="10800000" flipV="1">
            <a:off x="1619250" y="2273299"/>
            <a:ext cx="482600" cy="47625"/>
          </a:xfrm>
          <a:prstGeom prst="bentConnector3">
            <a:avLst>
              <a:gd name="adj1" fmla="val 50000"/>
            </a:avLst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132473" y="2950795"/>
            <a:ext cx="1486776" cy="120015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Left-click to rearrange the selected room</a:t>
            </a:r>
            <a:endParaRPr lang="ru-RU" sz="1400" dirty="0"/>
          </a:p>
        </p:txBody>
      </p:sp>
      <p:cxnSp>
        <p:nvCxnSpPr>
          <p:cNvPr id="20" name="Соединительная линия уступом 19"/>
          <p:cNvCxnSpPr>
            <a:endCxn id="18" idx="3"/>
          </p:cNvCxnSpPr>
          <p:nvPr/>
        </p:nvCxnSpPr>
        <p:spPr>
          <a:xfrm rot="10800000">
            <a:off x="1619250" y="3550870"/>
            <a:ext cx="3987801" cy="12700"/>
          </a:xfrm>
          <a:prstGeom prst="bentConnector3">
            <a:avLst>
              <a:gd name="adj1" fmla="val 100000"/>
            </a:avLst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299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Furniture arranger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41106" y="1182261"/>
            <a:ext cx="1385995" cy="538048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Entrance room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170633" y="3783304"/>
            <a:ext cx="1385995" cy="538048"/>
          </a:xfrm>
          <a:prstGeom prst="roundRect">
            <a:avLst/>
          </a:prstGeom>
          <a:solidFill>
            <a:schemeClr val="accent5"/>
          </a:solidFill>
          <a:ln>
            <a:solidFill>
              <a:srgbClr val="00206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 room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1858989" y="1185655"/>
            <a:ext cx="2054155" cy="543029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Processing room data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949832" y="2650786"/>
            <a:ext cx="1066004" cy="399626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Polygons</a:t>
            </a:r>
            <a:endParaRPr lang="ru-RU" dirty="0"/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3912159" y="3156876"/>
            <a:ext cx="1142624" cy="44048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Segments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912093" y="3703823"/>
            <a:ext cx="1138739" cy="4407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Furniture</a:t>
            </a:r>
            <a:endParaRPr lang="ru-RU" dirty="0"/>
          </a:p>
        </p:txBody>
      </p:sp>
      <p:sp>
        <p:nvSpPr>
          <p:cNvPr id="9" name="Левая фигурная скобка 8"/>
          <p:cNvSpPr/>
          <p:nvPr/>
        </p:nvSpPr>
        <p:spPr>
          <a:xfrm>
            <a:off x="3578013" y="2635220"/>
            <a:ext cx="226526" cy="9992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097600" y="2898425"/>
            <a:ext cx="1388027" cy="51690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Geometry from above</a:t>
            </a:r>
            <a:endParaRPr lang="ru-RU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854822" y="3634504"/>
            <a:ext cx="2719424" cy="52727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Processing. Prioritization</a:t>
            </a:r>
            <a:endParaRPr lang="ru-RU" dirty="0"/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4245032" y="1042030"/>
            <a:ext cx="1561253" cy="818510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Sorting furniture by priority</a:t>
            </a:r>
            <a:endParaRPr lang="ru-RU" dirty="0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6138173" y="1182260"/>
            <a:ext cx="1450919" cy="538049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Selection of candidates</a:t>
            </a:r>
            <a:endParaRPr lang="ru-RU" dirty="0"/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5881130" y="2022262"/>
            <a:ext cx="1965004" cy="533732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results by candidates</a:t>
            </a:r>
            <a:endParaRPr lang="ru-RU" dirty="0"/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6170634" y="2865928"/>
            <a:ext cx="1385995" cy="538048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Post Validation</a:t>
            </a:r>
            <a:endParaRPr lang="ru-RU" dirty="0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7774727" y="1182260"/>
            <a:ext cx="1213485" cy="538049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 Ranking</a:t>
            </a:r>
            <a:endParaRPr lang="ru-RU" dirty="0"/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7798010" y="2863891"/>
            <a:ext cx="1166918" cy="52948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Rotations</a:t>
            </a:r>
          </a:p>
        </p:txBody>
      </p:sp>
      <p:cxnSp>
        <p:nvCxnSpPr>
          <p:cNvPr id="28" name="Прямая со стрелкой 27"/>
          <p:cNvCxnSpPr>
            <a:stCxn id="4" idx="3"/>
            <a:endCxn id="12" idx="1"/>
          </p:cNvCxnSpPr>
          <p:nvPr/>
        </p:nvCxnSpPr>
        <p:spPr>
          <a:xfrm>
            <a:off x="1527101" y="1451285"/>
            <a:ext cx="331888" cy="5885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>
            <a:stCxn id="12" idx="3"/>
            <a:endCxn id="21" idx="1"/>
          </p:cNvCxnSpPr>
          <p:nvPr/>
        </p:nvCxnSpPr>
        <p:spPr>
          <a:xfrm flipV="1">
            <a:off x="3913144" y="1451285"/>
            <a:ext cx="331888" cy="5885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stCxn id="21" idx="3"/>
            <a:endCxn id="22" idx="1"/>
          </p:cNvCxnSpPr>
          <p:nvPr/>
        </p:nvCxnSpPr>
        <p:spPr>
          <a:xfrm>
            <a:off x="5806285" y="1451285"/>
            <a:ext cx="331888" cy="0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22" idx="2"/>
            <a:endCxn id="23" idx="0"/>
          </p:cNvCxnSpPr>
          <p:nvPr/>
        </p:nvCxnSpPr>
        <p:spPr>
          <a:xfrm flipH="1">
            <a:off x="6863632" y="1720309"/>
            <a:ext cx="1" cy="301953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23" idx="2"/>
            <a:endCxn id="24" idx="0"/>
          </p:cNvCxnSpPr>
          <p:nvPr/>
        </p:nvCxnSpPr>
        <p:spPr>
          <a:xfrm>
            <a:off x="6863632" y="2555994"/>
            <a:ext cx="0" cy="309934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>
            <a:stCxn id="24" idx="2"/>
            <a:endCxn id="11" idx="0"/>
          </p:cNvCxnSpPr>
          <p:nvPr/>
        </p:nvCxnSpPr>
        <p:spPr>
          <a:xfrm flipH="1">
            <a:off x="6863631" y="3403976"/>
            <a:ext cx="1" cy="379328"/>
          </a:xfrm>
          <a:prstGeom prst="straightConnector1">
            <a:avLst/>
          </a:prstGeom>
          <a:ln w="2222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/>
          <p:cNvCxnSpPr>
            <a:stCxn id="26" idx="1"/>
            <a:endCxn id="22" idx="3"/>
          </p:cNvCxnSpPr>
          <p:nvPr/>
        </p:nvCxnSpPr>
        <p:spPr>
          <a:xfrm flipH="1">
            <a:off x="7589092" y="1451285"/>
            <a:ext cx="185635" cy="0"/>
          </a:xfrm>
          <a:prstGeom prst="straightConnector1">
            <a:avLst/>
          </a:prstGeom>
          <a:ln w="2222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27" idx="1"/>
            <a:endCxn id="24" idx="3"/>
          </p:cNvCxnSpPr>
          <p:nvPr/>
        </p:nvCxnSpPr>
        <p:spPr>
          <a:xfrm flipH="1">
            <a:off x="7556629" y="3128632"/>
            <a:ext cx="241381" cy="6320"/>
          </a:xfrm>
          <a:prstGeom prst="straightConnector1">
            <a:avLst/>
          </a:prstGeom>
          <a:ln w="2222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Стрелка вправо 61"/>
          <p:cNvSpPr/>
          <p:nvPr/>
        </p:nvSpPr>
        <p:spPr>
          <a:xfrm rot="16200000">
            <a:off x="2380014" y="2072484"/>
            <a:ext cx="910452" cy="4069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340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b="900"/>
          <a:stretch/>
        </p:blipFill>
        <p:spPr bwMode="auto">
          <a:xfrm>
            <a:off x="656019" y="1284099"/>
            <a:ext cx="2648794" cy="126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Furniture arranger</a:t>
            </a:r>
            <a:endParaRPr lang="ru-RU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058" name="Picture 10" descr="Z:\Simulated_Annealing.gif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7747" y="3678124"/>
            <a:ext cx="3644900" cy="1173658"/>
          </a:xfrm>
          <a:prstGeom prst="rect">
            <a:avLst/>
          </a:prstGeom>
          <a:noFill/>
        </p:spPr>
      </p:pic>
      <p:pic>
        <p:nvPicPr>
          <p:cNvPr id="2060" name="Picture 12" descr="Z:\energy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0530" y="3092450"/>
            <a:ext cx="4419902" cy="663604"/>
          </a:xfrm>
          <a:prstGeom prst="rect">
            <a:avLst/>
          </a:prstGeom>
          <a:noFill/>
        </p:spPr>
      </p:pic>
      <p:sp>
        <p:nvSpPr>
          <p:cNvPr id="48" name="Скругленный прямоугольник 47"/>
          <p:cNvSpPr/>
          <p:nvPr/>
        </p:nvSpPr>
        <p:spPr>
          <a:xfrm>
            <a:off x="687348" y="825397"/>
            <a:ext cx="2333703" cy="508103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Linear model</a:t>
            </a:r>
            <a:endParaRPr lang="ru-RU" dirty="0"/>
          </a:p>
        </p:txBody>
      </p:sp>
      <p:sp>
        <p:nvSpPr>
          <p:cNvPr id="52" name="Скругленный прямоугольник 51"/>
          <p:cNvSpPr/>
          <p:nvPr/>
        </p:nvSpPr>
        <p:spPr>
          <a:xfrm>
            <a:off x="661796" y="2547476"/>
            <a:ext cx="2333703" cy="508103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Energy function</a:t>
            </a:r>
            <a:endParaRPr lang="ru-RU" dirty="0"/>
          </a:p>
        </p:txBody>
      </p:sp>
      <p:sp>
        <p:nvSpPr>
          <p:cNvPr id="55" name="Скругленный прямоугольник 54"/>
          <p:cNvSpPr/>
          <p:nvPr/>
        </p:nvSpPr>
        <p:spPr>
          <a:xfrm>
            <a:off x="370530" y="3674296"/>
            <a:ext cx="3788720" cy="5929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The main task: Find a layout with minimal energy</a:t>
            </a:r>
            <a:endParaRPr lang="ru-RU" dirty="0"/>
          </a:p>
        </p:txBody>
      </p:sp>
      <p:pic>
        <p:nvPicPr>
          <p:cNvPr id="15" name="Picture 11" descr="Z:\SA.png"/>
          <p:cNvPicPr>
            <a:picLocks noChangeAspect="1" noChangeArrowheads="1"/>
          </p:cNvPicPr>
          <p:nvPr/>
        </p:nvPicPr>
        <p:blipFill rotWithShape="1">
          <a:blip r:embed="rId6" cstate="print"/>
          <a:srcRect l="47453" r="8506" b="61184"/>
          <a:stretch/>
        </p:blipFill>
        <p:spPr bwMode="auto">
          <a:xfrm>
            <a:off x="4645276" y="857324"/>
            <a:ext cx="1632373" cy="945779"/>
          </a:xfrm>
          <a:prstGeom prst="rect">
            <a:avLst/>
          </a:prstGeom>
          <a:noFill/>
        </p:spPr>
      </p:pic>
      <p:sp>
        <p:nvSpPr>
          <p:cNvPr id="51" name="Скругленный прямоугольник 50"/>
          <p:cNvSpPr/>
          <p:nvPr/>
        </p:nvSpPr>
        <p:spPr>
          <a:xfrm>
            <a:off x="6569154" y="817355"/>
            <a:ext cx="2333703" cy="508103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Simulated annealing algorithm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72582" y="2298154"/>
            <a:ext cx="3741261" cy="622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5160272" y="3338063"/>
            <a:ext cx="3624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example of optimization in action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8AE195D-5C83-4C57-BDA9-5B1E359B4D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373" y="1652328"/>
            <a:ext cx="2091127" cy="8749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14CEE0-0678-479F-8F6C-8F6021329F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9373" y="3381043"/>
            <a:ext cx="1535493" cy="28337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72EF3E-2259-4413-9FDF-18B0D8C198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0432" y="1727165"/>
            <a:ext cx="1559792" cy="39918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FC59AF-8DEB-45E8-8706-4A788D685D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6712" y="2797939"/>
            <a:ext cx="2666969" cy="608837"/>
          </a:xfrm>
          <a:prstGeom prst="rect">
            <a:avLst/>
          </a:prstGeom>
        </p:spPr>
      </p:pic>
      <p:sp>
        <p:nvSpPr>
          <p:cNvPr id="25" name="Скругленный прямоугольник 51">
            <a:extLst>
              <a:ext uri="{FF2B5EF4-FFF2-40B4-BE49-F238E27FC236}">
                <a16:creationId xmlns:a16="http://schemas.microsoft.com/office/drawing/2014/main" id="{95EE4A5C-5C42-4315-8CE8-61464A7C2E41}"/>
              </a:ext>
            </a:extLst>
          </p:cNvPr>
          <p:cNvSpPr/>
          <p:nvPr/>
        </p:nvSpPr>
        <p:spPr>
          <a:xfrm>
            <a:off x="6553365" y="1384302"/>
            <a:ext cx="2349492" cy="996224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transition to a neighbor is carried out if ΔE&lt;0 or with a probability of PP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364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Editor. Furniture arranger</a:t>
            </a:r>
            <a:endParaRPr lang="ru-RU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8" name="Скругленный прямоугольник 47"/>
          <p:cNvSpPr/>
          <p:nvPr/>
        </p:nvSpPr>
        <p:spPr>
          <a:xfrm>
            <a:off x="1266650" y="622500"/>
            <a:ext cx="2333703" cy="508103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training</a:t>
            </a:r>
            <a:endParaRPr lang="ru-RU" dirty="0"/>
          </a:p>
        </p:txBody>
      </p:sp>
      <p:sp>
        <p:nvSpPr>
          <p:cNvPr id="26" name="Скругленный прямоугольник 25"/>
          <p:cNvSpPr/>
          <p:nvPr/>
        </p:nvSpPr>
        <p:spPr>
          <a:xfrm>
            <a:off x="313719" y="1315463"/>
            <a:ext cx="2200882" cy="415801"/>
          </a:xfrm>
          <a:prstGeom prst="round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Reading the dataset</a:t>
            </a:r>
            <a:endParaRPr lang="ru-RU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301" y="1095001"/>
            <a:ext cx="3874517" cy="3463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5543649" y="730591"/>
            <a:ext cx="2497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from the dataset</a:t>
            </a:r>
            <a:endParaRPr lang="ru-RU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267997" y="2808983"/>
            <a:ext cx="2280129" cy="604777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Normalization of features</a:t>
            </a:r>
            <a:endParaRPr lang="ru-RU" dirty="0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3164497" y="2632199"/>
            <a:ext cx="1315390" cy="476761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 calculation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3047774" y="3235703"/>
            <a:ext cx="1554706" cy="604777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Updating scales</a:t>
            </a: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103632" y="1931159"/>
            <a:ext cx="2602992" cy="641353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Separating data into training and validation</a:t>
            </a:r>
            <a:endParaRPr lang="ru-RU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310895" y="3595367"/>
            <a:ext cx="2206753" cy="641353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Initialization of initial w, b</a:t>
            </a:r>
            <a:endParaRPr lang="ru-RU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3194079" y="1979927"/>
            <a:ext cx="1243810" cy="482857"/>
          </a:xfrm>
          <a:prstGeom prst="roundRect">
            <a:avLst/>
          </a:prstGeom>
          <a:solidFill>
            <a:schemeClr val="accent5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Score calculation</a:t>
            </a:r>
            <a:endParaRPr lang="ru-RU" dirty="0"/>
          </a:p>
        </p:txBody>
      </p:sp>
      <p:cxnSp>
        <p:nvCxnSpPr>
          <p:cNvPr id="22" name="Прямая со стрелкой 21"/>
          <p:cNvCxnSpPr>
            <a:cxnSpLocks/>
            <a:stCxn id="26" idx="2"/>
            <a:endCxn id="18" idx="0"/>
          </p:cNvCxnSpPr>
          <p:nvPr/>
        </p:nvCxnSpPr>
        <p:spPr>
          <a:xfrm flipH="1">
            <a:off x="1405128" y="1731264"/>
            <a:ext cx="9032" cy="19989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18" idx="2"/>
            <a:endCxn id="10" idx="0"/>
          </p:cNvCxnSpPr>
          <p:nvPr/>
        </p:nvCxnSpPr>
        <p:spPr>
          <a:xfrm>
            <a:off x="1405128" y="2572512"/>
            <a:ext cx="2934" cy="23647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>
            <a:stCxn id="10" idx="2"/>
            <a:endCxn id="19" idx="0"/>
          </p:cNvCxnSpPr>
          <p:nvPr/>
        </p:nvCxnSpPr>
        <p:spPr>
          <a:xfrm>
            <a:off x="1408062" y="3413760"/>
            <a:ext cx="6210" cy="1816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Скругленный прямоугольник 30"/>
          <p:cNvSpPr/>
          <p:nvPr/>
        </p:nvSpPr>
        <p:spPr>
          <a:xfrm>
            <a:off x="3364767" y="1492247"/>
            <a:ext cx="914625" cy="312169"/>
          </a:xfrm>
          <a:prstGeom prst="round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Cycle</a:t>
            </a:r>
            <a:endParaRPr lang="ru-RU" dirty="0"/>
          </a:p>
        </p:txBody>
      </p:sp>
      <p:cxnSp>
        <p:nvCxnSpPr>
          <p:cNvPr id="33" name="Shape 32"/>
          <p:cNvCxnSpPr>
            <a:stCxn id="19" idx="3"/>
            <a:endCxn id="31" idx="0"/>
          </p:cNvCxnSpPr>
          <p:nvPr/>
        </p:nvCxnSpPr>
        <p:spPr>
          <a:xfrm flipV="1">
            <a:off x="2517648" y="1492247"/>
            <a:ext cx="1304432" cy="2423797"/>
          </a:xfrm>
          <a:prstGeom prst="bentConnector4">
            <a:avLst>
              <a:gd name="adj1" fmla="val 32471"/>
              <a:gd name="adj2" fmla="val 10943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1" idx="2"/>
            <a:endCxn id="20" idx="0"/>
          </p:cNvCxnSpPr>
          <p:nvPr/>
        </p:nvCxnSpPr>
        <p:spPr>
          <a:xfrm flipH="1">
            <a:off x="3815984" y="1804416"/>
            <a:ext cx="6096" cy="1755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cxnSpLocks/>
            <a:stCxn id="20" idx="2"/>
            <a:endCxn id="11" idx="0"/>
          </p:cNvCxnSpPr>
          <p:nvPr/>
        </p:nvCxnSpPr>
        <p:spPr>
          <a:xfrm>
            <a:off x="3815984" y="2462784"/>
            <a:ext cx="6208" cy="169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cxnSpLocks/>
            <a:stCxn id="11" idx="2"/>
            <a:endCxn id="12" idx="0"/>
          </p:cNvCxnSpPr>
          <p:nvPr/>
        </p:nvCxnSpPr>
        <p:spPr>
          <a:xfrm>
            <a:off x="3822192" y="3108960"/>
            <a:ext cx="2935" cy="12674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Скругленный прямоугольник 56"/>
          <p:cNvSpPr/>
          <p:nvPr/>
        </p:nvSpPr>
        <p:spPr>
          <a:xfrm>
            <a:off x="3035808" y="3985511"/>
            <a:ext cx="1590832" cy="580393"/>
          </a:xfrm>
          <a:prstGeom prst="roundRect">
            <a:avLst/>
          </a:prstGeom>
          <a:solidFill>
            <a:schemeClr val="accent2"/>
          </a:solidFill>
          <a:ln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Saving to JSON</a:t>
            </a:r>
            <a:endParaRPr lang="ru-RU" dirty="0"/>
          </a:p>
        </p:txBody>
      </p:sp>
      <p:cxnSp>
        <p:nvCxnSpPr>
          <p:cNvPr id="58" name="Прямая со стрелкой 57"/>
          <p:cNvCxnSpPr>
            <a:stCxn id="12" idx="2"/>
            <a:endCxn id="57" idx="0"/>
          </p:cNvCxnSpPr>
          <p:nvPr/>
        </p:nvCxnSpPr>
        <p:spPr>
          <a:xfrm>
            <a:off x="3825127" y="3840480"/>
            <a:ext cx="6097" cy="1450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3640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Z:\newcutflatscroll.gif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9664" y="864108"/>
            <a:ext cx="3413760" cy="3413760"/>
          </a:xfrm>
          <a:prstGeom prst="rect">
            <a:avLst/>
          </a:prstGeom>
          <a:noFill/>
        </p:spPr>
      </p:pic>
      <p:sp>
        <p:nvSpPr>
          <p:cNvPr id="35" name="Скругленный прямоугольник 34"/>
          <p:cNvSpPr/>
          <p:nvPr/>
        </p:nvSpPr>
        <p:spPr>
          <a:xfrm>
            <a:off x="3856990" y="1485973"/>
            <a:ext cx="1727200" cy="22796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Storage room structure</a:t>
            </a:r>
            <a:endParaRPr lang="ru-RU" dirty="0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3872321" y="768423"/>
            <a:ext cx="1689464" cy="4699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Apartment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430012" y="1118938"/>
            <a:ext cx="1314450" cy="406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518912" y="1207838"/>
            <a:ext cx="1314450" cy="406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6614162" y="1309438"/>
            <a:ext cx="1314450" cy="406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rooms</a:t>
            </a:r>
            <a:endParaRPr lang="ru-RU" dirty="0"/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6408424" y="3944507"/>
            <a:ext cx="1943100" cy="7747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Furniture collection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174852" y="1651073"/>
            <a:ext cx="1111250" cy="3556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points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4162152" y="2457523"/>
            <a:ext cx="1111250" cy="3556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segments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4149452" y="3263973"/>
            <a:ext cx="1111250" cy="3556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walls</a:t>
            </a:r>
            <a:endParaRPr lang="ru-RU" dirty="0"/>
          </a:p>
        </p:txBody>
      </p:sp>
      <p:sp>
        <p:nvSpPr>
          <p:cNvPr id="19" name="Двойная стрелка вверх/вниз 18"/>
          <p:cNvSpPr/>
          <p:nvPr/>
        </p:nvSpPr>
        <p:spPr>
          <a:xfrm>
            <a:off x="4606653" y="2070173"/>
            <a:ext cx="204469" cy="336550"/>
          </a:xfrm>
          <a:prstGeom prst="up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Двойная стрелка вверх/вниз 19"/>
          <p:cNvSpPr/>
          <p:nvPr/>
        </p:nvSpPr>
        <p:spPr>
          <a:xfrm>
            <a:off x="4611733" y="2870273"/>
            <a:ext cx="204469" cy="336550"/>
          </a:xfrm>
          <a:prstGeom prst="up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Стрелка вправо 20"/>
          <p:cNvSpPr/>
          <p:nvPr/>
        </p:nvSpPr>
        <p:spPr>
          <a:xfrm rot="5400000">
            <a:off x="7121075" y="1745958"/>
            <a:ext cx="376823" cy="412750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Скругленный прямоугольник 21"/>
          <p:cNvSpPr/>
          <p:nvPr/>
        </p:nvSpPr>
        <p:spPr>
          <a:xfrm>
            <a:off x="6029962" y="2179207"/>
            <a:ext cx="3003550" cy="13081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6091518" y="2308928"/>
            <a:ext cx="1062394" cy="3238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Furniture ID</a:t>
            </a:r>
            <a:endParaRPr lang="ru-RU" sz="14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7199156" y="2315277"/>
            <a:ext cx="1695450" cy="31591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Array of positions</a:t>
            </a:r>
            <a:endParaRPr lang="ru-RU" sz="1400" dirty="0"/>
          </a:p>
        </p:txBody>
      </p:sp>
      <p:sp>
        <p:nvSpPr>
          <p:cNvPr id="25" name="Прямоугольник 24"/>
          <p:cNvSpPr/>
          <p:nvPr/>
        </p:nvSpPr>
        <p:spPr>
          <a:xfrm>
            <a:off x="6091518" y="2664528"/>
            <a:ext cx="1056044" cy="32385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Furniture ID</a:t>
            </a:r>
            <a:endParaRPr lang="ru-RU" sz="14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7192806" y="2670877"/>
            <a:ext cx="1695450" cy="31591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Array of positions</a:t>
            </a:r>
            <a:endParaRPr lang="ru-RU" sz="1400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6091518" y="3026478"/>
            <a:ext cx="1056044" cy="32385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Furniture ID</a:t>
            </a:r>
            <a:endParaRPr lang="ru-RU" sz="1400" dirty="0"/>
          </a:p>
        </p:txBody>
      </p:sp>
      <p:sp>
        <p:nvSpPr>
          <p:cNvPr id="28" name="Прямоугольник 27"/>
          <p:cNvSpPr/>
          <p:nvPr/>
        </p:nvSpPr>
        <p:spPr>
          <a:xfrm>
            <a:off x="7192806" y="3032827"/>
            <a:ext cx="1695450" cy="31591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Array of positions</a:t>
            </a:r>
            <a:endParaRPr lang="ru-RU" sz="1400" dirty="0"/>
          </a:p>
        </p:txBody>
      </p:sp>
      <p:sp>
        <p:nvSpPr>
          <p:cNvPr id="30" name="Стрелка вверх 29"/>
          <p:cNvSpPr/>
          <p:nvPr/>
        </p:nvSpPr>
        <p:spPr>
          <a:xfrm>
            <a:off x="7133414" y="3537926"/>
            <a:ext cx="469172" cy="349250"/>
          </a:xfrm>
          <a:prstGeom prst="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низ 33"/>
          <p:cNvSpPr/>
          <p:nvPr/>
        </p:nvSpPr>
        <p:spPr>
          <a:xfrm>
            <a:off x="4574359" y="1282773"/>
            <a:ext cx="292100" cy="27305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Стрелка вверх 35"/>
          <p:cNvSpPr/>
          <p:nvPr/>
        </p:nvSpPr>
        <p:spPr>
          <a:xfrm rot="6396897">
            <a:off x="5781825" y="794708"/>
            <a:ext cx="405110" cy="761131"/>
          </a:xfrm>
          <a:prstGeom prst="up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9739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 example of the application work</a:t>
            </a:r>
            <a:endParaRPr lang="ru-RU" dirty="0"/>
          </a:p>
        </p:txBody>
      </p:sp>
      <p:pic>
        <p:nvPicPr>
          <p:cNvPr id="5" name="Long_Flat_Createion_Video_SpeedUpUp_Cut_Trim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 cstate="print"/>
          <a:stretch>
            <a:fillRect/>
          </a:stretch>
        </p:blipFill>
        <p:spPr>
          <a:xfrm>
            <a:off x="1226917" y="690141"/>
            <a:ext cx="6713316" cy="3776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26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  <a:endParaRPr lang="ru-RU" dirty="0"/>
          </a:p>
        </p:txBody>
      </p:sp>
      <p:sp>
        <p:nvSpPr>
          <p:cNvPr id="3" name="Содержимое 4"/>
          <p:cNvSpPr>
            <a:spLocks noGrp="1"/>
          </p:cNvSpPr>
          <p:nvPr>
            <p:ph idx="1"/>
          </p:nvPr>
        </p:nvSpPr>
        <p:spPr>
          <a:xfrm>
            <a:off x="628650" y="763929"/>
            <a:ext cx="7886700" cy="3868794"/>
          </a:xfrm>
        </p:spPr>
        <p:txBody>
          <a:bodyPr>
            <a:noAutofit/>
          </a:bodyPr>
          <a:lstStyle/>
          <a:p>
            <a:pPr marL="182526" indent="-182526" algn="just">
              <a:buClr>
                <a:srgbClr val="FF0000"/>
              </a:buClr>
              <a:buFont typeface="Calibri" pitchFamily="34" charset="0"/>
              <a:buChar char="•"/>
            </a:pPr>
            <a:r>
              <a:rPr lang="en-US" sz="1800" dirty="0"/>
              <a:t>The goals and objectives defined at the beginning of the project were successfully achieved.</a:t>
            </a:r>
            <a:endParaRPr lang="ru-RU" sz="1800" dirty="0"/>
          </a:p>
          <a:p>
            <a:pPr marL="182526" indent="-182526" algn="just">
              <a:buClr>
                <a:srgbClr val="FF0000"/>
              </a:buClr>
              <a:buFont typeface="Calibri" pitchFamily="34" charset="0"/>
              <a:buChar char="•"/>
            </a:pPr>
            <a:r>
              <a:rPr lang="en-US" sz="1800" dirty="0"/>
              <a:t>The result of the project is a fully functional room layout editor with a user-friendly interface and a wide range of features.</a:t>
            </a:r>
            <a:endParaRPr lang="ru-RU" sz="1800" dirty="0"/>
          </a:p>
          <a:p>
            <a:pPr marL="182526" indent="-182526" algn="just">
              <a:buClr>
                <a:srgbClr val="FF0000"/>
              </a:buClr>
              <a:buFont typeface="Calibri" pitchFamily="34" charset="0"/>
              <a:buChar char="•"/>
            </a:pPr>
            <a:r>
              <a:rPr lang="en-US" sz="1800" dirty="0"/>
              <a:t>The application allows users to create room layouts from scratch or import existing floor plans for further editing.</a:t>
            </a:r>
            <a:endParaRPr lang="ru-RU" sz="1800" dirty="0"/>
          </a:p>
          <a:p>
            <a:pPr marL="182526" indent="-182526" algn="just">
              <a:buClr>
                <a:srgbClr val="FF0000"/>
              </a:buClr>
              <a:buFont typeface="Calibri" pitchFamily="34" charset="0"/>
              <a:buChar char="•"/>
            </a:pPr>
            <a:r>
              <a:rPr lang="en-US" sz="1800" dirty="0"/>
              <a:t>Users can manually arrange furniture or use the automated placement functionality provided by the system.</a:t>
            </a:r>
            <a:endParaRPr lang="ru-RU" sz="1800" dirty="0"/>
          </a:p>
          <a:p>
            <a:pPr marL="182526" indent="-182526" algn="just">
              <a:buClr>
                <a:srgbClr val="FF0000"/>
              </a:buClr>
              <a:buFont typeface="Calibri" pitchFamily="34" charset="0"/>
              <a:buChar char="•"/>
            </a:pPr>
            <a:r>
              <a:rPr lang="en-US" sz="1800" dirty="0"/>
              <a:t>The modular architecture of the project enables further extension and scalability of both low-level components and high-level editor functionality</a:t>
            </a:r>
            <a:r>
              <a:rPr lang="ru-RU" sz="1800" dirty="0"/>
              <a:t>.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11146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Code development</a:t>
            </a:r>
            <a:endParaRPr lang="ru-RU" dirty="0"/>
          </a:p>
        </p:txBody>
      </p:sp>
      <p:sp>
        <p:nvSpPr>
          <p:cNvPr id="3" name="Подзаголовок 2"/>
          <p:cNvSpPr txBox="1">
            <a:spLocks/>
          </p:cNvSpPr>
          <p:nvPr/>
        </p:nvSpPr>
        <p:spPr>
          <a:xfrm>
            <a:off x="251014" y="1274575"/>
            <a:ext cx="8921931" cy="3745002"/>
          </a:xfrm>
          <a:prstGeom prst="rect">
            <a:avLst/>
          </a:prstGeom>
        </p:spPr>
        <p:txBody>
          <a:bodyPr vert="horz" lIns="91422" tIns="45711" rIns="91422" bIns="45711" numCol="2" rtlCol="0">
            <a:noAutofit/>
          </a:bodyPr>
          <a:lstStyle/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Kochugueva</a:t>
            </a:r>
            <a:r>
              <a:rPr lang="en-US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Maria</a:t>
            </a:r>
            <a:b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ru-RU" i="1" dirty="0">
                <a:latin typeface="Calibri" pitchFamily="34" charset="0"/>
                <a:cs typeface="Calibri" pitchFamily="34" charset="0"/>
              </a:rPr>
              <a:t>Buffers, materials, furniture arrangement editor</a:t>
            </a:r>
            <a:endParaRPr lang="ru-RU" altLang="ru-RU" i="1" dirty="0">
              <a:latin typeface="Calibri" pitchFamily="34" charset="0"/>
              <a:cs typeface="Calibri" pitchFamily="34" charset="0"/>
            </a:endParaRP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Arsentev</a:t>
            </a:r>
            <a:r>
              <a:rPr lang="en-US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Artemy</a:t>
            </a:r>
            <a:b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ru-RU" i="1" dirty="0">
                <a:latin typeface="Calibri" pitchFamily="34" charset="0"/>
                <a:cs typeface="Calibri" pitchFamily="34" charset="0"/>
              </a:rPr>
              <a:t>Low-level Vulkan API, textures, render pipeline, furniture arranger</a:t>
            </a:r>
            <a:endParaRPr lang="ru-RU" altLang="ru-RU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Necharv</a:t>
            </a:r>
            <a:r>
              <a:rPr lang="en-US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Vladimir</a:t>
            </a:r>
            <a:b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ru-RU" i="1" dirty="0">
                <a:latin typeface="Calibri" pitchFamily="34" charset="0"/>
                <a:cs typeface="Calibri" pitchFamily="34" charset="0"/>
              </a:rPr>
              <a:t>Resource storage, buffers, lighting, shadows</a:t>
            </a: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endParaRPr lang="en-US" altLang="ru-RU" b="1" i="1" dirty="0">
              <a:latin typeface="Calibri" pitchFamily="34" charset="0"/>
              <a:cs typeface="Calibri" pitchFamily="34" charset="0"/>
            </a:endParaRP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endParaRPr lang="en-US" altLang="ru-RU" b="1" i="1" dirty="0">
              <a:latin typeface="Calibri" pitchFamily="34" charset="0"/>
              <a:cs typeface="Calibri" pitchFamily="34" charset="0"/>
            </a:endParaRP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endParaRPr lang="ru-RU" altLang="ru-RU" b="1" i="1" dirty="0">
              <a:latin typeface="Calibri" pitchFamily="34" charset="0"/>
              <a:cs typeface="Calibri" pitchFamily="34" charset="0"/>
            </a:endParaRPr>
          </a:p>
          <a:p>
            <a:pPr indent="87313">
              <a:buClr>
                <a:srgbClr val="FF0000"/>
              </a:buClr>
            </a:pPr>
            <a:endParaRPr lang="ru-RU" altLang="ru-RU" b="1" i="1" dirty="0">
              <a:latin typeface="Calibri" pitchFamily="34" charset="0"/>
              <a:cs typeface="Calibri" pitchFamily="34" charset="0"/>
            </a:endParaRPr>
          </a:p>
          <a:p>
            <a:pPr indent="87313">
              <a:buClr>
                <a:srgbClr val="FF0000"/>
              </a:buClr>
            </a:pPr>
            <a:endParaRPr lang="ru-RU" altLang="ru-RU" b="1" i="1" dirty="0">
              <a:latin typeface="Calibri" pitchFamily="34" charset="0"/>
              <a:cs typeface="Calibri" pitchFamily="34" charset="0"/>
            </a:endParaRP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Kupchenkov</a:t>
            </a:r>
            <a:r>
              <a:rPr lang="en-US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Ivan</a:t>
            </a:r>
            <a:b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ru-RU" i="1" dirty="0">
                <a:latin typeface="Calibri" pitchFamily="34" charset="0"/>
                <a:cs typeface="Calibri" pitchFamily="34" charset="0"/>
              </a:rPr>
              <a:t>Shaders, working with JSON files, room editor</a:t>
            </a:r>
            <a:endParaRPr lang="ru-RU" altLang="ru-RU" i="1" dirty="0">
              <a:latin typeface="Calibri" pitchFamily="34" charset="0"/>
              <a:cs typeface="Calibri" pitchFamily="34" charset="0"/>
            </a:endParaRP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Novojilova</a:t>
            </a:r>
            <a:r>
              <a:rPr lang="en-US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Maryana</a:t>
            </a:r>
            <a:b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ru-RU" i="1" dirty="0">
                <a:latin typeface="Calibri" pitchFamily="34" charset="0"/>
                <a:cs typeface="Calibri" pitchFamily="34" charset="0"/>
              </a:rPr>
              <a:t>Low-level Vulkan API, primitives, models, wall construction and texturing</a:t>
            </a:r>
          </a:p>
          <a:p>
            <a:pPr indent="87313">
              <a:buClr>
                <a:srgbClr val="FF0000"/>
              </a:buClr>
              <a:buFont typeface="Arial" pitchFamily="34" charset="0"/>
              <a:buChar char="•"/>
            </a:pPr>
            <a:r>
              <a:rPr lang="en-US" altLang="ru-RU" b="1" dirty="0" err="1">
                <a:latin typeface="Arial" panose="020B0604020202020204" pitchFamily="34" charset="0"/>
                <a:cs typeface="Arial" panose="020B0604020202020204" pitchFamily="34" charset="0"/>
              </a:rPr>
              <a:t>Tretyakov</a:t>
            </a:r>
            <a:r>
              <a:rPr lang="en-US" altLang="ru-RU" b="1" dirty="0">
                <a:latin typeface="Arial" panose="020B0604020202020204" pitchFamily="34" charset="0"/>
                <a:cs typeface="Arial" panose="020B0604020202020204" pitchFamily="34" charset="0"/>
              </a:rPr>
              <a:t> Andrew</a:t>
            </a:r>
            <a:br>
              <a:rPr lang="ru-RU" altLang="ru-RU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ru-RU" i="1" dirty="0">
                <a:latin typeface="Calibri" pitchFamily="34" charset="0"/>
                <a:cs typeface="Calibri" pitchFamily="34" charset="0"/>
              </a:rPr>
              <a:t>Low-level Vulkan API, animation system, room editor</a:t>
            </a:r>
            <a:endParaRPr lang="ru-RU" altLang="ru-RU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8508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Code development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41350" y="660401"/>
            <a:ext cx="8058150" cy="3724078"/>
          </a:xfrm>
          <a:prstGeom prst="rect">
            <a:avLst/>
          </a:prstGeom>
        </p:spPr>
        <p:txBody>
          <a:bodyPr wrap="square" lIns="91422" tIns="45711" rIns="91422" bIns="45711">
            <a:spAutoFit/>
          </a:bodyPr>
          <a:lstStyle/>
          <a:p>
            <a:r>
              <a:rPr lang="en-US" sz="2800" dirty="0"/>
              <a:t>Authors</a:t>
            </a:r>
            <a:r>
              <a:rPr lang="ru-RU" sz="2800" dirty="0"/>
              <a:t>: 6</a:t>
            </a:r>
          </a:p>
          <a:p>
            <a:r>
              <a:rPr lang="en-US" sz="2800" dirty="0"/>
              <a:t>Languages</a:t>
            </a:r>
            <a:r>
              <a:rPr lang="ru-RU" sz="2800" dirty="0"/>
              <a:t>: С++</a:t>
            </a:r>
            <a:r>
              <a:rPr lang="en-US" sz="2800" dirty="0"/>
              <a:t> / Python / GLSL </a:t>
            </a:r>
            <a:r>
              <a:rPr lang="en-US" dirty="0"/>
              <a:t>(for Vulkan API)</a:t>
            </a:r>
            <a:br>
              <a:rPr lang="ru-RU" sz="2800" dirty="0"/>
            </a:br>
            <a:r>
              <a:rPr lang="en-US" sz="1600" dirty="0"/>
              <a:t>(vertex, tessellation, geometry, pixel, and compute shaders</a:t>
            </a:r>
            <a:r>
              <a:rPr lang="ru-RU" sz="1600" dirty="0"/>
              <a:t>)</a:t>
            </a:r>
            <a:endParaRPr lang="ru-RU" sz="2800" dirty="0"/>
          </a:p>
          <a:p>
            <a:endParaRPr lang="en-US" sz="1000" dirty="0"/>
          </a:p>
          <a:p>
            <a:r>
              <a:rPr lang="en-US" sz="2800" dirty="0"/>
              <a:t>Development time</a:t>
            </a:r>
            <a:r>
              <a:rPr lang="ru-RU" sz="2800" dirty="0"/>
              <a:t>: </a:t>
            </a:r>
            <a:r>
              <a:rPr lang="en-US" sz="2800" dirty="0"/>
              <a:t>fall</a:t>
            </a:r>
            <a:r>
              <a:rPr lang="ru-RU" sz="2800" dirty="0"/>
              <a:t>-</a:t>
            </a:r>
            <a:r>
              <a:rPr lang="en-US" sz="2800" dirty="0"/>
              <a:t>summer</a:t>
            </a:r>
            <a:r>
              <a:rPr lang="ru-RU" sz="2800" dirty="0"/>
              <a:t> 202</a:t>
            </a:r>
            <a:r>
              <a:rPr lang="en-US" sz="2800" dirty="0"/>
              <a:t>5-2026</a:t>
            </a:r>
            <a:endParaRPr lang="ru-RU" sz="2800" dirty="0"/>
          </a:p>
          <a:p>
            <a:endParaRPr lang="en-US" sz="1000" dirty="0"/>
          </a:p>
          <a:p>
            <a:r>
              <a:rPr lang="en-US" sz="2800" dirty="0"/>
              <a:t>Code size</a:t>
            </a:r>
            <a:r>
              <a:rPr lang="ru-RU" sz="2800" dirty="0"/>
              <a:t>: </a:t>
            </a:r>
            <a:r>
              <a:rPr lang="en-US" sz="2800" dirty="0"/>
              <a:t>1.9</a:t>
            </a:r>
            <a:r>
              <a:rPr lang="ru-RU" sz="2800" dirty="0"/>
              <a:t> </a:t>
            </a:r>
            <a:r>
              <a:rPr lang="en-US" sz="2800" dirty="0" err="1"/>
              <a:t>MiB</a:t>
            </a:r>
            <a:br>
              <a:rPr lang="en-US" sz="2800" dirty="0"/>
            </a:br>
            <a:r>
              <a:rPr lang="en-US" sz="2000" dirty="0"/>
              <a:t>(90 x *.</a:t>
            </a:r>
            <a:r>
              <a:rPr lang="en-US" sz="2000" dirty="0" err="1"/>
              <a:t>cpp</a:t>
            </a:r>
            <a:r>
              <a:rPr lang="en-US" sz="2000" dirty="0"/>
              <a:t> - 1192 KiB, 73 x *.</a:t>
            </a:r>
            <a:r>
              <a:rPr lang="en-US" sz="2000" dirty="0" err="1"/>
              <a:t>glsl</a:t>
            </a:r>
            <a:r>
              <a:rPr lang="en-US" sz="2000" dirty="0"/>
              <a:t> - 131 KiB, 82 x *.h - 589 KiB, 1 x *.</a:t>
            </a:r>
            <a:r>
              <a:rPr lang="en-US" sz="2000" dirty="0" err="1"/>
              <a:t>py</a:t>
            </a:r>
            <a:r>
              <a:rPr lang="en-US" sz="2000" dirty="0"/>
              <a:t> - 30 KiB)</a:t>
            </a:r>
            <a:endParaRPr lang="en-US" sz="1000" dirty="0"/>
          </a:p>
          <a:p>
            <a:r>
              <a:rPr lang="en-US" sz="2800" dirty="0"/>
              <a:t>Lines of code</a:t>
            </a:r>
            <a:r>
              <a:rPr lang="ru-RU" sz="2800" dirty="0"/>
              <a:t>: </a:t>
            </a:r>
            <a:r>
              <a:rPr lang="en-US" sz="2800" dirty="0"/>
              <a:t>53415</a:t>
            </a:r>
            <a:br>
              <a:rPr lang="en-US" sz="2800" dirty="0"/>
            </a:br>
            <a:r>
              <a:rPr lang="pt-BR" sz="2000" dirty="0"/>
              <a:t>(*.cpp - 30307, *.glsl - 4350, *.h - 18005, *.py - 753)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508508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Течение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 rotWithShape="0">
          <a:blip xmlns:r="http://schemas.openxmlformats.org/officeDocument/2006/relationships" r:embed="rId1" cstate="print"/>
          <a:stretch>
            <a:fillRect t="-9827" r="-1008" b="-15607"/>
          </a:stretch>
        </a:blipFill>
      </a:spPr>
      <a:bodyPr/>
      <a:lstStyle>
        <a:defPPr>
          <a:defRPr dirty="0">
            <a:noFill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21815</TotalTime>
  <Words>792</Words>
  <Application>Microsoft Office PowerPoint</Application>
  <PresentationFormat>Экран (16:9)</PresentationFormat>
  <Paragraphs>234</Paragraphs>
  <Slides>26</Slides>
  <Notes>20</Notes>
  <HiddenSlides>0</HiddenSlides>
  <MMClips>5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Cooper Black</vt:lpstr>
      <vt:lpstr>Течение</vt:lpstr>
      <vt:lpstr>Hybrid System for Room Layout Creation and Automatic Furniture Placement Based on Geometric Constraints, Heuristic Optimization, and Machine Learning.</vt:lpstr>
      <vt:lpstr>Project structure</vt:lpstr>
      <vt:lpstr>Vulkan API</vt:lpstr>
      <vt:lpstr>Vulkan resources</vt:lpstr>
      <vt:lpstr>Презентация PowerPoint</vt:lpstr>
      <vt:lpstr>Resources. Models</vt:lpstr>
      <vt:lpstr>CPU and GPU Matrix Recalculation Test</vt:lpstr>
      <vt:lpstr>Matrix recalculation</vt:lpstr>
      <vt:lpstr>Render pipeline</vt:lpstr>
      <vt:lpstr>Render pipeline</vt:lpstr>
      <vt:lpstr>Resources. Lighting</vt:lpstr>
      <vt:lpstr>Animation</vt:lpstr>
      <vt:lpstr>Editor</vt:lpstr>
      <vt:lpstr>Editor. Premises</vt:lpstr>
      <vt:lpstr>Editor. Rooms</vt:lpstr>
      <vt:lpstr>Editor. Furniture</vt:lpstr>
      <vt:lpstr>Editor. Furniture arrangement</vt:lpstr>
      <vt:lpstr>Editor. Furniture arranger</vt:lpstr>
      <vt:lpstr>Editor. Furniture arranger</vt:lpstr>
      <vt:lpstr>Editor. Furniture arranger</vt:lpstr>
      <vt:lpstr>Editor. Furniture arranger</vt:lpstr>
      <vt:lpstr>Storage room structure</vt:lpstr>
      <vt:lpstr>An example of the application work</vt:lpstr>
      <vt:lpstr>Conclusion</vt:lpstr>
      <vt:lpstr>Code development</vt:lpstr>
      <vt:lpstr>Code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очень сложной анимации для оптимизации визуализации трехмерных сцен.</dc:title>
  <dc:creator>CGSG'2020</dc:creator>
  <cp:keywords>CGSG;Computer Graphics;Real Time;ФМЛ № 30;Computer Graphics Support Group</cp:keywords>
  <cp:lastModifiedBy>Артемий Арсентьев</cp:lastModifiedBy>
  <cp:revision>819</cp:revision>
  <dcterms:created xsi:type="dcterms:W3CDTF">2016-01-28T14:53:46Z</dcterms:created>
  <dcterms:modified xsi:type="dcterms:W3CDTF">2026-07-30T12:43:42Z</dcterms:modified>
</cp:coreProperties>
</file>